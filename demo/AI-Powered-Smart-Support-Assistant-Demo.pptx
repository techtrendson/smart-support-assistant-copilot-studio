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93" r:id="rId4"/>
    <p:sldId id="259" r:id="rId5"/>
    <p:sldId id="262" r:id="rId6"/>
    <p:sldId id="277" r:id="rId7"/>
    <p:sldId id="265" r:id="rId8"/>
    <p:sldId id="274" r:id="rId9"/>
    <p:sldId id="275" r:id="rId10"/>
    <p:sldId id="278" r:id="rId11"/>
    <p:sldId id="279" r:id="rId12"/>
    <p:sldId id="280" r:id="rId13"/>
    <p:sldId id="281" r:id="rId14"/>
    <p:sldId id="282" r:id="rId15"/>
    <p:sldId id="283" r:id="rId16"/>
    <p:sldId id="273" r:id="rId17"/>
    <p:sldId id="266" r:id="rId18"/>
    <p:sldId id="286" r:id="rId19"/>
    <p:sldId id="287" r:id="rId20"/>
    <p:sldId id="284" r:id="rId21"/>
    <p:sldId id="285" r:id="rId22"/>
    <p:sldId id="267" r:id="rId23"/>
    <p:sldId id="268" r:id="rId24"/>
    <p:sldId id="270" r:id="rId25"/>
    <p:sldId id="269" r:id="rId26"/>
    <p:sldId id="289" r:id="rId27"/>
    <p:sldId id="290"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8" d="100"/>
          <a:sy n="68" d="100"/>
        </p:scale>
        <p:origin x="616" y="32"/>
      </p:cViewPr>
      <p:guideLst/>
    </p:cSldViewPr>
  </p:slideViewPr>
  <p:notesTextViewPr>
    <p:cViewPr>
      <p:scale>
        <a:sx n="1" d="1"/>
        <a:sy n="1" d="1"/>
      </p:scale>
      <p:origin x="0" y="0"/>
    </p:cViewPr>
  </p:notesTextViewPr>
  <p:sorterViewPr>
    <p:cViewPr>
      <p:scale>
        <a:sx n="100" d="100"/>
        <a:sy n="100" d="100"/>
      </p:scale>
      <p:origin x="0" y="-530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dirty="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dirty="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dirty="0"/>
              <a:pPr/>
              <a:t>5/27/2026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dirty="0"/>
              <a:pPr/>
              <a:t>5/27/2026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dirty="0"/>
              <a:pPr/>
              <a:t>5/27/2026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dirty="0"/>
              <a:pPr/>
              <a:t>5/27/2026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dirty="0"/>
              <a:pPr/>
              <a:t>5/27/2026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dirty="0"/>
              <a:pPr/>
              <a:t>5/27/2026</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dirty="0"/>
              <a:pPr/>
              <a:t>5/27/2026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FBF54567-0DE4-3F47-BF90-CB84690072F9}" type="datetimeFigureOut">
              <a:rPr lang="en-US" dirty="0"/>
              <a:pPr/>
              <a:t>5/27/2026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dirty="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dirty="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dirty="0"/>
              <a:pPr/>
              <a:t>5/27/2026</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3" r:id="rId9"/>
    <p:sldLayoutId id="2147483657" r:id="rId10"/>
    <p:sldLayoutId id="2147483666" r:id="rId11"/>
    <p:sldLayoutId id="2147483661" r:id="rId12"/>
    <p:sldLayoutId id="2147483658" r:id="rId13"/>
    <p:sldLayoutId id="2147483659" r:id="rId14"/>
  </p:sldLayoutIdLst>
  <p:hf sldNum="0" hdr="0" ftr="0" dt="0"/>
  <p:txStyles>
    <p:titleStyle>
      <a:lvl1pPr algn="l" defTabSz="457200" rtl="0" eaLnBrk="1" latinLnBrk="0" hangingPunct="1">
        <a:spcBef>
          <a:spcPct val="0"/>
        </a:spcBef>
        <a:buNone/>
        <a:defRPr sz="4000" b="1" kern="1200">
          <a:solidFill>
            <a:srgbClr val="FEFEFE"/>
          </a:solidFill>
          <a:effectLst>
            <a:outerShdw blurRad="50800" dir="14400000" algn="ctr" rotWithShape="0">
              <a:schemeClr val="bg1">
                <a:alpha val="60000"/>
              </a:scheme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effectLst>
            <a:outerShdw blurRad="50800" dir="14400000" algn="ctr" rotWithShape="0">
              <a:schemeClr val="bg1">
                <a:alpha val="40000"/>
              </a:schemeClr>
            </a:outerShdw>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effectLst>
            <a:outerShdw blurRad="50800" dir="14400000" algn="ctr" rotWithShape="0">
              <a:schemeClr val="bg1">
                <a:alpha val="40000"/>
              </a:schemeClr>
            </a:outerShdw>
          </a:effectLst>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effectLst>
            <a:outerShdw blurRad="50800" dir="14400000" algn="ctr" rotWithShape="0">
              <a:schemeClr val="bg1">
                <a:alpha val="40000"/>
              </a:schemeClr>
            </a:outerShdw>
          </a:effectLst>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effectLst>
            <a:outerShdw blurRad="50800" dir="14400000" algn="ctr" rotWithShape="0">
              <a:schemeClr val="bg1">
                <a:alpha val="40000"/>
              </a:schemeClr>
            </a:outerShdw>
          </a:effectLst>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effectLst>
            <a:outerShdw blurRad="50800" dir="14400000" algn="ctr" rotWithShape="0">
              <a:schemeClr val="bg1">
                <a:alpha val="40000"/>
              </a:schemeClr>
            </a:outerShdw>
          </a:effectLst>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7DC5CAF-E69B-E9CD-5E07-D7F5197DF37B}"/>
              </a:ext>
            </a:extLst>
          </p:cNvPr>
          <p:cNvSpPr>
            <a:spLocks noGrp="1"/>
          </p:cNvSpPr>
          <p:nvPr>
            <p:ph type="subTitle" idx="1"/>
          </p:nvPr>
        </p:nvSpPr>
        <p:spPr>
          <a:xfrm>
            <a:off x="809251" y="5337407"/>
            <a:ext cx="10572000" cy="1053965"/>
          </a:xfrm>
        </p:spPr>
        <p:txBody>
          <a:bodyPr>
            <a:normAutofit/>
          </a:bodyPr>
          <a:lstStyle/>
          <a:p>
            <a:pPr algn="ctr"/>
            <a:r>
              <a:rPr lang="en-IN" sz="4400" dirty="0">
                <a:solidFill>
                  <a:schemeClr val="tx1">
                    <a:lumMod val="85000"/>
                  </a:schemeClr>
                </a:solidFill>
                <a:latin typeface="Adobe Garamond Pro Bold" panose="02020702060506020403" pitchFamily="18" charset="0"/>
              </a:rPr>
              <a:t>Prototype Demonstration</a:t>
            </a:r>
            <a:endParaRPr lang="en-US" sz="4400" dirty="0">
              <a:solidFill>
                <a:schemeClr val="tx1">
                  <a:lumMod val="85000"/>
                </a:schemeClr>
              </a:solidFill>
              <a:latin typeface="Adobe Garamond Pro Bold" panose="02020702060506020403" pitchFamily="18" charset="0"/>
            </a:endParaRPr>
          </a:p>
          <a:p>
            <a:endParaRPr lang="en-IN" dirty="0"/>
          </a:p>
        </p:txBody>
      </p:sp>
      <p:sp>
        <p:nvSpPr>
          <p:cNvPr id="4" name="Title 1">
            <a:extLst>
              <a:ext uri="{FF2B5EF4-FFF2-40B4-BE49-F238E27FC236}">
                <a16:creationId xmlns:a16="http://schemas.microsoft.com/office/drawing/2014/main" id="{94E91EA9-6728-5DD8-B20E-4156C3BBE9EB}"/>
              </a:ext>
            </a:extLst>
          </p:cNvPr>
          <p:cNvSpPr>
            <a:spLocks noGrp="1"/>
          </p:cNvSpPr>
          <p:nvPr>
            <p:ph type="ctrTitle"/>
          </p:nvPr>
        </p:nvSpPr>
        <p:spPr>
          <a:xfrm>
            <a:off x="658796" y="190384"/>
            <a:ext cx="10572750" cy="2970212"/>
          </a:xfrm>
        </p:spPr>
        <p:txBody>
          <a:bodyPr>
            <a:normAutofit/>
          </a:bodyPr>
          <a:lstStyle/>
          <a:p>
            <a:pPr algn="ctr"/>
            <a:r>
              <a:rPr lang="en-US" sz="6000" b="1" dirty="0">
                <a:effectLst/>
                <a:latin typeface="Adobe Garamond Pro" panose="02020502060506020403" pitchFamily="18" charset="0"/>
              </a:rPr>
              <a:t>AI-Powered Smart Support Assistant for Internal </a:t>
            </a:r>
            <a:r>
              <a:rPr lang="en-US" sz="6000" b="1" dirty="0" err="1">
                <a:effectLst/>
                <a:latin typeface="Adobe Garamond Pro" panose="02020502060506020403" pitchFamily="18" charset="0"/>
              </a:rPr>
              <a:t>Organisational</a:t>
            </a:r>
            <a:r>
              <a:rPr lang="en-US" sz="6000" b="1" dirty="0">
                <a:effectLst/>
                <a:latin typeface="Adobe Garamond Pro" panose="02020502060506020403" pitchFamily="18" charset="0"/>
              </a:rPr>
              <a:t> Suppor</a:t>
            </a:r>
            <a:r>
              <a:rPr lang="en-US" sz="6000" b="1" dirty="0">
                <a:latin typeface="Adobe Garamond Pro" panose="02020502060506020403" pitchFamily="18" charset="0"/>
              </a:rPr>
              <a:t>t</a:t>
            </a:r>
            <a:endParaRPr lang="en-IN" sz="6000" b="1" dirty="0">
              <a:latin typeface="Adobe Garamond Pro" panose="02020502060506020403" pitchFamily="18" charset="0"/>
            </a:endParaRPr>
          </a:p>
        </p:txBody>
      </p:sp>
      <p:sp>
        <p:nvSpPr>
          <p:cNvPr id="5" name="Subtitle 2">
            <a:extLst>
              <a:ext uri="{FF2B5EF4-FFF2-40B4-BE49-F238E27FC236}">
                <a16:creationId xmlns:a16="http://schemas.microsoft.com/office/drawing/2014/main" id="{97C7FCE7-70B1-AFD2-DC99-D37A086C0DD3}"/>
              </a:ext>
            </a:extLst>
          </p:cNvPr>
          <p:cNvSpPr txBox="1">
            <a:spLocks/>
          </p:cNvSpPr>
          <p:nvPr/>
        </p:nvSpPr>
        <p:spPr>
          <a:xfrm>
            <a:off x="1099133" y="3344159"/>
            <a:ext cx="9692076" cy="1371598"/>
          </a:xfrm>
          <a:prstGeom prst="rect">
            <a:avLst/>
          </a:prstGeom>
          <a:effectLst/>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1"/>
              </a:buClr>
              <a:buFont typeface="Wingdings 2" charset="2"/>
              <a:buNone/>
              <a:defRPr sz="1800" kern="1200">
                <a:solidFill>
                  <a:schemeClr val="tx1"/>
                </a:solidFill>
                <a:effectLst>
                  <a:outerShdw blurRad="50800" dir="14400000" algn="ctr" rotWithShape="0">
                    <a:schemeClr val="bg1">
                      <a:alpha val="40000"/>
                    </a:schemeClr>
                  </a:outerShdw>
                </a:effectLst>
                <a:latin typeface="+mn-lt"/>
                <a:ea typeface="+mn-ea"/>
                <a:cs typeface="+mn-cs"/>
              </a:defRPr>
            </a:lvl1pPr>
            <a:lvl2pPr marL="457200" indent="0" algn="ctr" defTabSz="457200" rtl="0" eaLnBrk="1" latinLnBrk="0" hangingPunct="1">
              <a:spcBef>
                <a:spcPct val="20000"/>
              </a:spcBef>
              <a:spcAft>
                <a:spcPts val="600"/>
              </a:spcAft>
              <a:buClr>
                <a:schemeClr val="accent1"/>
              </a:buClr>
              <a:buFont typeface="Wingdings 2" charset="2"/>
              <a:buNone/>
              <a:defRPr sz="16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2pPr>
            <a:lvl3pPr marL="914400" indent="0" algn="ctr"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3pPr>
            <a:lvl4pPr marL="1371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4pPr>
            <a:lvl5pPr marL="18288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5pPr>
            <a:lvl6pPr marL="22860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9pPr>
          </a:lstStyle>
          <a:p>
            <a:pPr algn="ctr"/>
            <a:r>
              <a:rPr lang="en-US" sz="3600" dirty="0">
                <a:solidFill>
                  <a:schemeClr val="tx1">
                    <a:lumMod val="95000"/>
                  </a:schemeClr>
                </a:solidFill>
                <a:effectLst/>
                <a:latin typeface="Adobe Garamond Pro Bold" panose="02020702060506020403" pitchFamily="18" charset="0"/>
              </a:rPr>
              <a:t>Using Microsoft Copilot Studio, Power Automate, Excel Online, and Outlook V2 Email Workflows</a:t>
            </a:r>
          </a:p>
        </p:txBody>
      </p:sp>
    </p:spTree>
    <p:extLst>
      <p:ext uri="{BB962C8B-B14F-4D97-AF65-F5344CB8AC3E}">
        <p14:creationId xmlns:p14="http://schemas.microsoft.com/office/powerpoint/2010/main" val="399201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9D8B5-DD97-7646-E121-602166653400}"/>
              </a:ext>
            </a:extLst>
          </p:cNvPr>
          <p:cNvSpPr>
            <a:spLocks noGrp="1"/>
          </p:cNvSpPr>
          <p:nvPr>
            <p:ph type="title"/>
          </p:nvPr>
        </p:nvSpPr>
        <p:spPr>
          <a:xfrm>
            <a:off x="366940" y="475468"/>
            <a:ext cx="10571998" cy="970450"/>
          </a:xfrm>
        </p:spPr>
        <p:txBody>
          <a:bodyPr/>
          <a:lstStyle/>
          <a:p>
            <a:r>
              <a:rPr lang="en-IN" sz="5400" dirty="0">
                <a:solidFill>
                  <a:schemeClr val="tx1"/>
                </a:solidFill>
                <a:effectLst/>
                <a:latin typeface="Adobe Garamond Pro Bold" panose="02020702060506020403" pitchFamily="18" charset="0"/>
                <a:ea typeface="+mn-ea"/>
                <a:cs typeface="+mn-cs"/>
              </a:rPr>
              <a:t>Overview</a:t>
            </a:r>
          </a:p>
        </p:txBody>
      </p:sp>
      <p:sp>
        <p:nvSpPr>
          <p:cNvPr id="3" name="Subtitle 2">
            <a:extLst>
              <a:ext uri="{FF2B5EF4-FFF2-40B4-BE49-F238E27FC236}">
                <a16:creationId xmlns:a16="http://schemas.microsoft.com/office/drawing/2014/main" id="{AD683F78-3619-6FE0-0A51-08D78FF62F0A}"/>
              </a:ext>
            </a:extLst>
          </p:cNvPr>
          <p:cNvSpPr txBox="1">
            <a:spLocks/>
          </p:cNvSpPr>
          <p:nvPr/>
        </p:nvSpPr>
        <p:spPr>
          <a:xfrm>
            <a:off x="248240" y="2312390"/>
            <a:ext cx="11943760" cy="5021664"/>
          </a:xfrm>
          <a:prstGeom prst="rect">
            <a:avLst/>
          </a:prstGeom>
          <a:effectLst/>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1"/>
              </a:buClr>
              <a:buFont typeface="Wingdings 2" charset="2"/>
              <a:buNone/>
              <a:defRPr sz="1800" kern="1200">
                <a:solidFill>
                  <a:schemeClr val="tx1"/>
                </a:solidFill>
                <a:effectLst>
                  <a:outerShdw blurRad="50800" dir="14400000" algn="ctr" rotWithShape="0">
                    <a:schemeClr val="bg1">
                      <a:alpha val="40000"/>
                    </a:schemeClr>
                  </a:outerShdw>
                </a:effectLst>
                <a:latin typeface="+mn-lt"/>
                <a:ea typeface="+mn-ea"/>
                <a:cs typeface="+mn-cs"/>
              </a:defRPr>
            </a:lvl1pPr>
            <a:lvl2pPr marL="457200" indent="0" algn="ctr" defTabSz="457200" rtl="0" eaLnBrk="1" latinLnBrk="0" hangingPunct="1">
              <a:spcBef>
                <a:spcPct val="20000"/>
              </a:spcBef>
              <a:spcAft>
                <a:spcPts val="600"/>
              </a:spcAft>
              <a:buClr>
                <a:schemeClr val="accent1"/>
              </a:buClr>
              <a:buFont typeface="Wingdings 2" charset="2"/>
              <a:buNone/>
              <a:defRPr sz="16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2pPr>
            <a:lvl3pPr marL="914400" indent="0" algn="ctr"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3pPr>
            <a:lvl4pPr marL="1371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4pPr>
            <a:lvl5pPr marL="18288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5pPr>
            <a:lvl6pPr marL="22860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9pPr>
          </a:lstStyle>
          <a:p>
            <a:pPr marL="457200" indent="-457200">
              <a:buFont typeface="Wingdings" panose="05000000000000000000" pitchFamily="2" charset="2"/>
              <a:buChar char="q"/>
            </a:pPr>
            <a:r>
              <a:rPr lang="en-IN" sz="2800" dirty="0"/>
              <a:t>Smart Support Assistant is an internal workplace support agent that helps employees with HR, IT, Admin &amp; Facilities, Security &amp; Compliance, Payroll, Benefits, and Onboarding questions.</a:t>
            </a:r>
          </a:p>
          <a:p>
            <a:pPr marL="457200" indent="-457200">
              <a:buFont typeface="Wingdings" panose="05000000000000000000" pitchFamily="2" charset="2"/>
              <a:buChar char="q"/>
            </a:pPr>
            <a:r>
              <a:rPr lang="en-IN" sz="2800" dirty="0"/>
              <a:t>It supports policy guidance, support ticket creation, ticket status lookup, and urgent callback escalation through Power Automate and Outlook V2 email workflows.</a:t>
            </a:r>
          </a:p>
          <a:p>
            <a:pPr marL="457200" indent="-457200">
              <a:buFont typeface="Wingdings" panose="05000000000000000000" pitchFamily="2" charset="2"/>
              <a:buChar char="q"/>
            </a:pPr>
            <a:r>
              <a:rPr lang="en-IN" sz="2800" dirty="0"/>
              <a:t>The assistant uses only the approved internal knowledge base for policy responses and follows safety, privacy, compliance, and </a:t>
            </a:r>
            <a:r>
              <a:rPr lang="en-IN" sz="2800"/>
              <a:t>fallback guardrails.</a:t>
            </a:r>
            <a:endParaRPr lang="en-US" sz="2800" dirty="0">
              <a:latin typeface="Adobe Garamond Pro" panose="02020502060506020403" pitchFamily="18" charset="0"/>
            </a:endParaRPr>
          </a:p>
        </p:txBody>
      </p:sp>
    </p:spTree>
    <p:extLst>
      <p:ext uri="{BB962C8B-B14F-4D97-AF65-F5344CB8AC3E}">
        <p14:creationId xmlns:p14="http://schemas.microsoft.com/office/powerpoint/2010/main" val="1744660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3752E-D673-3CE4-5C9C-AFBD592BBF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F0C92E-D907-DA77-4E79-D7ADE36E1582}"/>
              </a:ext>
            </a:extLst>
          </p:cNvPr>
          <p:cNvSpPr>
            <a:spLocks noGrp="1"/>
          </p:cNvSpPr>
          <p:nvPr>
            <p:ph type="title"/>
          </p:nvPr>
        </p:nvSpPr>
        <p:spPr>
          <a:xfrm>
            <a:off x="366940" y="475468"/>
            <a:ext cx="10571998" cy="970450"/>
          </a:xfrm>
        </p:spPr>
        <p:txBody>
          <a:bodyPr/>
          <a:lstStyle/>
          <a:p>
            <a:r>
              <a:rPr lang="en-IN" sz="5400" dirty="0">
                <a:solidFill>
                  <a:schemeClr val="tx1"/>
                </a:solidFill>
                <a:effectLst/>
                <a:latin typeface="Adobe Garamond Pro Bold" panose="02020702060506020403" pitchFamily="18" charset="0"/>
                <a:ea typeface="+mn-ea"/>
                <a:cs typeface="+mn-cs"/>
              </a:rPr>
              <a:t>Key Features</a:t>
            </a:r>
          </a:p>
        </p:txBody>
      </p:sp>
      <p:sp>
        <p:nvSpPr>
          <p:cNvPr id="3" name="Subtitle 2">
            <a:extLst>
              <a:ext uri="{FF2B5EF4-FFF2-40B4-BE49-F238E27FC236}">
                <a16:creationId xmlns:a16="http://schemas.microsoft.com/office/drawing/2014/main" id="{1DED5722-CEF6-63CB-E6CA-88DC27240F7B}"/>
              </a:ext>
            </a:extLst>
          </p:cNvPr>
          <p:cNvSpPr txBox="1">
            <a:spLocks/>
          </p:cNvSpPr>
          <p:nvPr/>
        </p:nvSpPr>
        <p:spPr>
          <a:xfrm>
            <a:off x="103696" y="2246403"/>
            <a:ext cx="11943760" cy="5021664"/>
          </a:xfrm>
          <a:prstGeom prst="rect">
            <a:avLst/>
          </a:prstGeom>
          <a:effectLst/>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1"/>
              </a:buClr>
              <a:buFont typeface="Wingdings 2" charset="2"/>
              <a:buNone/>
              <a:defRPr sz="1800" kern="1200">
                <a:solidFill>
                  <a:schemeClr val="tx1"/>
                </a:solidFill>
                <a:effectLst>
                  <a:outerShdw blurRad="50800" dir="14400000" algn="ctr" rotWithShape="0">
                    <a:schemeClr val="bg1">
                      <a:alpha val="40000"/>
                    </a:schemeClr>
                  </a:outerShdw>
                </a:effectLst>
                <a:latin typeface="+mn-lt"/>
                <a:ea typeface="+mn-ea"/>
                <a:cs typeface="+mn-cs"/>
              </a:defRPr>
            </a:lvl1pPr>
            <a:lvl2pPr marL="457200" indent="0" algn="ctr" defTabSz="457200" rtl="0" eaLnBrk="1" latinLnBrk="0" hangingPunct="1">
              <a:spcBef>
                <a:spcPct val="20000"/>
              </a:spcBef>
              <a:spcAft>
                <a:spcPts val="600"/>
              </a:spcAft>
              <a:buClr>
                <a:schemeClr val="accent1"/>
              </a:buClr>
              <a:buFont typeface="Wingdings 2" charset="2"/>
              <a:buNone/>
              <a:defRPr sz="16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2pPr>
            <a:lvl3pPr marL="914400" indent="0" algn="ctr"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3pPr>
            <a:lvl4pPr marL="1371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4pPr>
            <a:lvl5pPr marL="18288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5pPr>
            <a:lvl6pPr marL="22860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9pPr>
          </a:lstStyle>
          <a:p>
            <a:pPr marL="626400" indent="-457200">
              <a:buFont typeface="Wingdings" panose="05000000000000000000" pitchFamily="2" charset="2"/>
              <a:buChar char="q"/>
            </a:pPr>
            <a:r>
              <a:rPr lang="en-US" sz="3200" dirty="0">
                <a:latin typeface="Adobe Garamond Pro" panose="02020502060506020403" pitchFamily="18" charset="0"/>
              </a:rPr>
              <a:t>AI-powered internal support assistant using Microsoft Copilot Studio</a:t>
            </a:r>
          </a:p>
          <a:p>
            <a:pPr marL="626400" indent="-457200">
              <a:buFont typeface="Wingdings" panose="05000000000000000000" pitchFamily="2" charset="2"/>
              <a:buChar char="q"/>
            </a:pPr>
            <a:r>
              <a:rPr lang="en-US" sz="3200" dirty="0">
                <a:latin typeface="Adobe Garamond Pro" panose="02020502060506020403" pitchFamily="18" charset="0"/>
              </a:rPr>
              <a:t>Guided conversational workflows for employee support requests</a:t>
            </a:r>
          </a:p>
          <a:p>
            <a:pPr marL="626400" indent="-457200">
              <a:buFont typeface="Wingdings" panose="05000000000000000000" pitchFamily="2" charset="2"/>
              <a:buChar char="q"/>
            </a:pPr>
            <a:r>
              <a:rPr lang="en-US" sz="3200" dirty="0">
                <a:latin typeface="Adobe Garamond Pro" panose="02020502060506020403" pitchFamily="18" charset="0"/>
              </a:rPr>
              <a:t>Internal policy assistance using a knowledge-grounded knowledge base</a:t>
            </a:r>
          </a:p>
          <a:p>
            <a:pPr marL="626400" indent="-457200">
              <a:buFont typeface="Wingdings" panose="05000000000000000000" pitchFamily="2" charset="2"/>
              <a:buChar char="q"/>
            </a:pPr>
            <a:r>
              <a:rPr lang="en-US" sz="3200" dirty="0">
                <a:latin typeface="Adobe Garamond Pro" panose="02020502060506020403" pitchFamily="18" charset="0"/>
              </a:rPr>
              <a:t>Structured support ticket creation with automatic ticket ID generation</a:t>
            </a:r>
          </a:p>
          <a:p>
            <a:pPr marL="626400" indent="-457200">
              <a:buFont typeface="Wingdings" panose="05000000000000000000" pitchFamily="2" charset="2"/>
              <a:buChar char="q"/>
            </a:pPr>
            <a:r>
              <a:rPr lang="en-US" sz="3200" dirty="0">
                <a:latin typeface="Adobe Garamond Pro" panose="02020502060506020403" pitchFamily="18" charset="0"/>
              </a:rPr>
              <a:t>Ticket status tracking using ticket ID or employee details</a:t>
            </a:r>
          </a:p>
          <a:p>
            <a:pPr marL="626400" indent="-457200">
              <a:buFont typeface="Wingdings" panose="05000000000000000000" pitchFamily="2" charset="2"/>
              <a:buChar char="q"/>
            </a:pPr>
            <a:r>
              <a:rPr lang="en-US" sz="3200" dirty="0">
                <a:latin typeface="Adobe Garamond Pro" panose="02020502060506020403" pitchFamily="18" charset="0"/>
              </a:rPr>
              <a:t>Official company email validation and input checking</a:t>
            </a:r>
          </a:p>
        </p:txBody>
      </p:sp>
    </p:spTree>
    <p:extLst>
      <p:ext uri="{BB962C8B-B14F-4D97-AF65-F5344CB8AC3E}">
        <p14:creationId xmlns:p14="http://schemas.microsoft.com/office/powerpoint/2010/main" val="1215141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406A1-9CB6-5B78-CB45-448E548970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E2A7DE-1573-F17E-A280-119099996509}"/>
              </a:ext>
            </a:extLst>
          </p:cNvPr>
          <p:cNvSpPr>
            <a:spLocks noGrp="1"/>
          </p:cNvSpPr>
          <p:nvPr>
            <p:ph type="title"/>
          </p:nvPr>
        </p:nvSpPr>
        <p:spPr>
          <a:xfrm>
            <a:off x="376367" y="569736"/>
            <a:ext cx="10571998" cy="970450"/>
          </a:xfrm>
        </p:spPr>
        <p:txBody>
          <a:bodyPr/>
          <a:lstStyle/>
          <a:p>
            <a:r>
              <a:rPr lang="en-IN" sz="5400" dirty="0">
                <a:solidFill>
                  <a:schemeClr val="tx1"/>
                </a:solidFill>
                <a:effectLst/>
                <a:latin typeface="Adobe Garamond Pro Bold" panose="02020702060506020403" pitchFamily="18" charset="0"/>
                <a:ea typeface="+mn-ea"/>
                <a:cs typeface="+mn-cs"/>
              </a:rPr>
              <a:t>Key Features</a:t>
            </a:r>
          </a:p>
        </p:txBody>
      </p:sp>
      <p:sp>
        <p:nvSpPr>
          <p:cNvPr id="3" name="Subtitle 2">
            <a:extLst>
              <a:ext uri="{FF2B5EF4-FFF2-40B4-BE49-F238E27FC236}">
                <a16:creationId xmlns:a16="http://schemas.microsoft.com/office/drawing/2014/main" id="{BE5FEF8C-08B3-903B-6A54-321CFAA931AF}"/>
              </a:ext>
            </a:extLst>
          </p:cNvPr>
          <p:cNvSpPr txBox="1">
            <a:spLocks/>
          </p:cNvSpPr>
          <p:nvPr/>
        </p:nvSpPr>
        <p:spPr>
          <a:xfrm>
            <a:off x="84840" y="2284110"/>
            <a:ext cx="11972041" cy="4418348"/>
          </a:xfrm>
          <a:prstGeom prst="rect">
            <a:avLst/>
          </a:prstGeom>
          <a:effectLst/>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1"/>
              </a:buClr>
              <a:buFont typeface="Wingdings 2" charset="2"/>
              <a:buNone/>
              <a:defRPr sz="1800" kern="1200">
                <a:solidFill>
                  <a:schemeClr val="tx1"/>
                </a:solidFill>
                <a:effectLst>
                  <a:outerShdw blurRad="50800" dir="14400000" algn="ctr" rotWithShape="0">
                    <a:schemeClr val="bg1">
                      <a:alpha val="40000"/>
                    </a:schemeClr>
                  </a:outerShdw>
                </a:effectLst>
                <a:latin typeface="+mn-lt"/>
                <a:ea typeface="+mn-ea"/>
                <a:cs typeface="+mn-cs"/>
              </a:defRPr>
            </a:lvl1pPr>
            <a:lvl2pPr marL="457200" indent="0" algn="ctr" defTabSz="457200" rtl="0" eaLnBrk="1" latinLnBrk="0" hangingPunct="1">
              <a:spcBef>
                <a:spcPct val="20000"/>
              </a:spcBef>
              <a:spcAft>
                <a:spcPts val="600"/>
              </a:spcAft>
              <a:buClr>
                <a:schemeClr val="accent1"/>
              </a:buClr>
              <a:buFont typeface="Wingdings 2" charset="2"/>
              <a:buNone/>
              <a:defRPr sz="16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2pPr>
            <a:lvl3pPr marL="914400" indent="0" algn="ctr"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3pPr>
            <a:lvl4pPr marL="1371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4pPr>
            <a:lvl5pPr marL="18288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5pPr>
            <a:lvl6pPr marL="22860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9pPr>
          </a:lstStyle>
          <a:p>
            <a:pPr marL="626400" indent="-457200">
              <a:lnSpc>
                <a:spcPct val="100000"/>
              </a:lnSpc>
              <a:buFont typeface="Wingdings" panose="05000000000000000000" pitchFamily="2" charset="2"/>
              <a:buChar char="q"/>
            </a:pPr>
            <a:r>
              <a:rPr lang="en-US" sz="3200" dirty="0">
                <a:latin typeface="Adobe Garamond Pro" panose="02020502060506020403" pitchFamily="18" charset="0"/>
              </a:rPr>
              <a:t>Outlook V2 email workflow integration for escalation notifications</a:t>
            </a:r>
          </a:p>
          <a:p>
            <a:pPr marL="626400" indent="-457200">
              <a:lnSpc>
                <a:spcPct val="100000"/>
              </a:lnSpc>
              <a:buFont typeface="Wingdings" panose="05000000000000000000" pitchFamily="2" charset="2"/>
              <a:buChar char="q"/>
            </a:pPr>
            <a:r>
              <a:rPr lang="en-US" sz="3200" dirty="0">
                <a:latin typeface="Adobe Garamond Pro" panose="02020502060506020403" pitchFamily="18" charset="0"/>
              </a:rPr>
              <a:t>Excel Online integration for ticket storage and retrieval</a:t>
            </a:r>
          </a:p>
          <a:p>
            <a:pPr marL="626400" indent="-457200">
              <a:lnSpc>
                <a:spcPct val="100000"/>
              </a:lnSpc>
              <a:buFont typeface="Wingdings" panose="05000000000000000000" pitchFamily="2" charset="2"/>
              <a:buChar char="q"/>
            </a:pPr>
            <a:r>
              <a:rPr lang="en-US" sz="3200" dirty="0">
                <a:latin typeface="Adobe Garamond Pro" panose="02020502060506020403" pitchFamily="18" charset="0"/>
              </a:rPr>
              <a:t>Multi-turn conversational support experience</a:t>
            </a:r>
          </a:p>
          <a:p>
            <a:pPr marL="626400" indent="-457200">
              <a:lnSpc>
                <a:spcPct val="100000"/>
              </a:lnSpc>
              <a:buFont typeface="Wingdings" panose="05000000000000000000" pitchFamily="2" charset="2"/>
              <a:buChar char="q"/>
            </a:pPr>
            <a:r>
              <a:rPr lang="en-US" sz="3200" dirty="0">
                <a:latin typeface="Adobe Garamond Pro" panose="02020502060506020403" pitchFamily="18" charset="0"/>
              </a:rPr>
              <a:t>Feedback and rating collection workflow</a:t>
            </a:r>
          </a:p>
          <a:p>
            <a:pPr marL="626400" indent="-457200">
              <a:lnSpc>
                <a:spcPct val="100000"/>
              </a:lnSpc>
              <a:buFont typeface="Wingdings" panose="05000000000000000000" pitchFamily="2" charset="2"/>
              <a:buChar char="q"/>
            </a:pPr>
            <a:r>
              <a:rPr lang="en-US" sz="3200" dirty="0">
                <a:latin typeface="Adobe Garamond Pro" panose="02020502060506020403" pitchFamily="18" charset="0"/>
              </a:rPr>
              <a:t>Fallback handling for unsupported or unclear queries</a:t>
            </a:r>
          </a:p>
          <a:p>
            <a:pPr marL="626400" indent="-457200">
              <a:lnSpc>
                <a:spcPct val="100000"/>
              </a:lnSpc>
              <a:buFont typeface="Wingdings" panose="05000000000000000000" pitchFamily="2" charset="2"/>
              <a:buChar char="q"/>
            </a:pPr>
            <a:r>
              <a:rPr lang="en-US" sz="3200" dirty="0">
                <a:latin typeface="Adobe Garamond Pro" panose="02020502060506020403" pitchFamily="18" charset="0"/>
              </a:rPr>
              <a:t>Conversation-based evaluation testing with 100% quality scores across key workflows </a:t>
            </a:r>
          </a:p>
        </p:txBody>
      </p:sp>
    </p:spTree>
    <p:extLst>
      <p:ext uri="{BB962C8B-B14F-4D97-AF65-F5344CB8AC3E}">
        <p14:creationId xmlns:p14="http://schemas.microsoft.com/office/powerpoint/2010/main" val="29306834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37FAC05-1BD7-7062-3FE5-4D9B0432D1EC}"/>
              </a:ext>
            </a:extLst>
          </p:cNvPr>
          <p:cNvPicPr>
            <a:picLocks noChangeAspect="1"/>
          </p:cNvPicPr>
          <p:nvPr/>
        </p:nvPicPr>
        <p:blipFill>
          <a:blip r:embed="rId2"/>
          <a:stretch>
            <a:fillRect/>
          </a:stretch>
        </p:blipFill>
        <p:spPr>
          <a:xfrm>
            <a:off x="1099989" y="139176"/>
            <a:ext cx="9741959" cy="6610416"/>
          </a:xfrm>
          <a:prstGeom prst="rect">
            <a:avLst/>
          </a:prstGeom>
        </p:spPr>
      </p:pic>
    </p:spTree>
    <p:extLst>
      <p:ext uri="{BB962C8B-B14F-4D97-AF65-F5344CB8AC3E}">
        <p14:creationId xmlns:p14="http://schemas.microsoft.com/office/powerpoint/2010/main" val="4286499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01690-7862-B459-17BE-AE8EB8606F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C5B50A-0A5B-DDE9-CC10-68237AD097B1}"/>
              </a:ext>
            </a:extLst>
          </p:cNvPr>
          <p:cNvSpPr>
            <a:spLocks noGrp="1"/>
          </p:cNvSpPr>
          <p:nvPr>
            <p:ph type="title"/>
          </p:nvPr>
        </p:nvSpPr>
        <p:spPr>
          <a:xfrm>
            <a:off x="467180" y="216816"/>
            <a:ext cx="11071227" cy="1436492"/>
          </a:xfrm>
        </p:spPr>
        <p:txBody>
          <a:bodyPr/>
          <a:lstStyle/>
          <a:p>
            <a:r>
              <a:rPr lang="en-IN" sz="4400" dirty="0">
                <a:solidFill>
                  <a:schemeClr val="tx1"/>
                </a:solidFill>
                <a:effectLst/>
                <a:latin typeface="Adobe Garamond Pro Bold" panose="02020702060506020403" pitchFamily="18" charset="0"/>
                <a:ea typeface="+mn-ea"/>
                <a:cs typeface="+mn-cs"/>
              </a:rPr>
              <a:t>Working Demonstrations (screenshots) are in the following slides:</a:t>
            </a:r>
          </a:p>
        </p:txBody>
      </p:sp>
      <p:sp>
        <p:nvSpPr>
          <p:cNvPr id="5" name="TextBox 4">
            <a:extLst>
              <a:ext uri="{FF2B5EF4-FFF2-40B4-BE49-F238E27FC236}">
                <a16:creationId xmlns:a16="http://schemas.microsoft.com/office/drawing/2014/main" id="{3C2A15DA-7F0C-D1C1-3395-19BAAFC11B37}"/>
              </a:ext>
            </a:extLst>
          </p:cNvPr>
          <p:cNvSpPr txBox="1"/>
          <p:nvPr/>
        </p:nvSpPr>
        <p:spPr>
          <a:xfrm>
            <a:off x="612038" y="2325059"/>
            <a:ext cx="11143188" cy="4031873"/>
          </a:xfrm>
          <a:prstGeom prst="rect">
            <a:avLst/>
          </a:prstGeom>
          <a:noFill/>
        </p:spPr>
        <p:txBody>
          <a:bodyPr wrap="square">
            <a:spAutoFit/>
          </a:bodyPr>
          <a:lstStyle/>
          <a:p>
            <a:r>
              <a:rPr lang="en-IN" sz="3200" dirty="0">
                <a:latin typeface="Adobe Garamond Pro" panose="02020502060506020403" pitchFamily="18" charset="0"/>
              </a:rPr>
              <a:t>Note: Employees can directly choose support ticket creation, ticket status lookup, or human escalation workflows from the beginning as needed. </a:t>
            </a:r>
          </a:p>
          <a:p>
            <a:endParaRPr lang="en-IN" sz="3200" dirty="0">
              <a:latin typeface="Adobe Garamond Pro" panose="02020502060506020403" pitchFamily="18" charset="0"/>
            </a:endParaRPr>
          </a:p>
          <a:p>
            <a:r>
              <a:rPr lang="en-IN" sz="3200" dirty="0">
                <a:latin typeface="Adobe Garamond Pro" panose="02020502060506020403" pitchFamily="18" charset="0"/>
              </a:rPr>
              <a:t>However, the demonstration scenarios assume employees first attempt self-service support through knowledge-grounded conversational assistance </a:t>
            </a:r>
            <a:r>
              <a:rPr lang="en-US" sz="3200" dirty="0">
                <a:latin typeface="Adobe Garamond Pro" panose="02020502060506020403" pitchFamily="18" charset="0"/>
              </a:rPr>
              <a:t>before progressing to support ticket or escalation workflows</a:t>
            </a:r>
            <a:r>
              <a:rPr lang="en-IN" sz="3200" dirty="0">
                <a:latin typeface="Adobe Garamond Pro" panose="02020502060506020403" pitchFamily="18" charset="0"/>
              </a:rPr>
              <a:t> if additional help is required. </a:t>
            </a:r>
          </a:p>
        </p:txBody>
      </p:sp>
    </p:spTree>
    <p:extLst>
      <p:ext uri="{BB962C8B-B14F-4D97-AF65-F5344CB8AC3E}">
        <p14:creationId xmlns:p14="http://schemas.microsoft.com/office/powerpoint/2010/main" val="38509488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A33FC46E-350F-47FB-8EE2-2B5D7B8ADDE0}"/>
              </a:ext>
            </a:extLst>
          </p:cNvPr>
          <p:cNvSpPr txBox="1">
            <a:spLocks/>
          </p:cNvSpPr>
          <p:nvPr/>
        </p:nvSpPr>
        <p:spPr>
          <a:xfrm>
            <a:off x="171254" y="5172634"/>
            <a:ext cx="11885628" cy="1147879"/>
          </a:xfrm>
          <a:prstGeom prst="rect">
            <a:avLst/>
          </a:prstGeom>
          <a:effectLst/>
        </p:spPr>
        <p:txBody>
          <a:bodyPr vert="horz" lIns="91440" tIns="45720" rIns="91440" bIns="45720" rtlCol="0" anchor="t">
            <a:noAutofit/>
          </a:bodyPr>
          <a:lstStyle>
            <a:lvl1pPr marL="0" indent="0" algn="r" defTabSz="457200" rtl="0" eaLnBrk="1" latinLnBrk="0" hangingPunct="1">
              <a:spcBef>
                <a:spcPct val="20000"/>
              </a:spcBef>
              <a:spcAft>
                <a:spcPts val="600"/>
              </a:spcAft>
              <a:buClr>
                <a:schemeClr val="accent1"/>
              </a:buClr>
              <a:buFont typeface="Wingdings 2" charset="2"/>
              <a:buNone/>
              <a:defRPr sz="1800" kern="1200">
                <a:solidFill>
                  <a:schemeClr val="tx1"/>
                </a:solidFill>
                <a:effectLst>
                  <a:outerShdw blurRad="50800" dir="14400000" algn="ctr" rotWithShape="0">
                    <a:schemeClr val="bg1">
                      <a:alpha val="40000"/>
                    </a:schemeClr>
                  </a:outerShdw>
                </a:effectLst>
                <a:latin typeface="+mn-lt"/>
                <a:ea typeface="+mn-ea"/>
                <a:cs typeface="+mn-cs"/>
              </a:defRPr>
            </a:lvl1pPr>
            <a:lvl2pPr marL="457200" indent="0" algn="l" defTabSz="457200" rtl="0" eaLnBrk="1" latinLnBrk="0" hangingPunct="1">
              <a:spcBef>
                <a:spcPct val="20000"/>
              </a:spcBef>
              <a:spcAft>
                <a:spcPts val="600"/>
              </a:spcAft>
              <a:buClr>
                <a:schemeClr val="accent1"/>
              </a:buClr>
              <a:buFont typeface="Wingdings 2" charset="2"/>
              <a:buNone/>
              <a:defRPr sz="18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2pPr>
            <a:lvl3pPr marL="914400" indent="0" algn="l" defTabSz="457200" rtl="0" eaLnBrk="1" latinLnBrk="0" hangingPunct="1">
              <a:spcBef>
                <a:spcPct val="20000"/>
              </a:spcBef>
              <a:spcAft>
                <a:spcPts val="600"/>
              </a:spcAft>
              <a:buClr>
                <a:schemeClr val="accent1"/>
              </a:buClr>
              <a:buFont typeface="Wingdings 2" charset="2"/>
              <a:buNone/>
              <a:defRPr sz="16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3pPr>
            <a:lvl4pPr marL="13716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4pPr>
            <a:lvl5pPr marL="18288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5pPr>
            <a:lvl6pPr marL="22860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6pPr>
            <a:lvl7pPr marL="27432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7pPr>
            <a:lvl8pPr marL="32004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8pPr>
            <a:lvl9pPr marL="36576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9pPr>
          </a:lstStyle>
          <a:p>
            <a:pPr algn="l"/>
            <a:r>
              <a:rPr lang="en-IN" sz="2800" u="sng" dirty="0">
                <a:effectLst/>
                <a:latin typeface="Adobe Garamond Pro" panose="02020502060506020403" pitchFamily="18" charset="0"/>
              </a:rPr>
              <a:t>Personalised Greeting to Support Options flow</a:t>
            </a:r>
          </a:p>
          <a:p>
            <a:pPr algn="l"/>
            <a:r>
              <a:rPr lang="en-US" sz="2400" dirty="0">
                <a:effectLst/>
                <a:latin typeface="Adobe Garamond Pro" panose="02020502060506020403" pitchFamily="18" charset="0"/>
              </a:rPr>
              <a:t>The assistant </a:t>
            </a:r>
            <a:r>
              <a:rPr lang="en-US" sz="2400" dirty="0" err="1">
                <a:effectLst/>
                <a:latin typeface="Adobe Garamond Pro" panose="02020502060506020403" pitchFamily="18" charset="0"/>
              </a:rPr>
              <a:t>personalises</a:t>
            </a:r>
            <a:r>
              <a:rPr lang="en-US" sz="2400" dirty="0">
                <a:effectLst/>
                <a:latin typeface="Adobe Garamond Pro" panose="02020502060506020403" pitchFamily="18" charset="0"/>
              </a:rPr>
              <a:t> the interaction by optionally collecting a preferred name before routing employees to policy questions, ticket creation, ticket status lookup, or human escalation workflows.</a:t>
            </a:r>
            <a:endParaRPr lang="en-IN" sz="2400" dirty="0">
              <a:effectLst/>
              <a:latin typeface="Adobe Garamond Pro" panose="02020502060506020403" pitchFamily="18" charset="0"/>
            </a:endParaRPr>
          </a:p>
        </p:txBody>
      </p:sp>
      <p:pic>
        <p:nvPicPr>
          <p:cNvPr id="6" name="Picture 5">
            <a:extLst>
              <a:ext uri="{FF2B5EF4-FFF2-40B4-BE49-F238E27FC236}">
                <a16:creationId xmlns:a16="http://schemas.microsoft.com/office/drawing/2014/main" id="{A71A0C5A-E96E-974D-7AA7-F261B5B751A8}"/>
              </a:ext>
            </a:extLst>
          </p:cNvPr>
          <p:cNvPicPr>
            <a:picLocks noChangeAspect="1"/>
          </p:cNvPicPr>
          <p:nvPr/>
        </p:nvPicPr>
        <p:blipFill>
          <a:blip r:embed="rId2"/>
          <a:stretch>
            <a:fillRect/>
          </a:stretch>
        </p:blipFill>
        <p:spPr>
          <a:xfrm>
            <a:off x="733184" y="226245"/>
            <a:ext cx="4965319" cy="4543888"/>
          </a:xfrm>
          <a:prstGeom prst="rect">
            <a:avLst/>
          </a:prstGeom>
        </p:spPr>
      </p:pic>
      <p:pic>
        <p:nvPicPr>
          <p:cNvPr id="8" name="Picture 7">
            <a:extLst>
              <a:ext uri="{FF2B5EF4-FFF2-40B4-BE49-F238E27FC236}">
                <a16:creationId xmlns:a16="http://schemas.microsoft.com/office/drawing/2014/main" id="{75359370-7344-E612-B98E-C7CDD13E5882}"/>
              </a:ext>
            </a:extLst>
          </p:cNvPr>
          <p:cNvPicPr>
            <a:picLocks noChangeAspect="1"/>
          </p:cNvPicPr>
          <p:nvPr/>
        </p:nvPicPr>
        <p:blipFill>
          <a:blip r:embed="rId3"/>
          <a:stretch>
            <a:fillRect/>
          </a:stretch>
        </p:blipFill>
        <p:spPr>
          <a:xfrm>
            <a:off x="6131779" y="226245"/>
            <a:ext cx="4965320" cy="4557434"/>
          </a:xfrm>
          <a:prstGeom prst="rect">
            <a:avLst/>
          </a:prstGeom>
        </p:spPr>
      </p:pic>
    </p:spTree>
    <p:extLst>
      <p:ext uri="{BB962C8B-B14F-4D97-AF65-F5344CB8AC3E}">
        <p14:creationId xmlns:p14="http://schemas.microsoft.com/office/powerpoint/2010/main" val="1587738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824CC-ED7A-E1B1-1E65-FED8E153F9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58DEBA-9687-80BE-D628-6DB5ECFA09E8}"/>
              </a:ext>
            </a:extLst>
          </p:cNvPr>
          <p:cNvSpPr>
            <a:spLocks noGrp="1"/>
          </p:cNvSpPr>
          <p:nvPr>
            <p:ph type="title"/>
          </p:nvPr>
        </p:nvSpPr>
        <p:spPr>
          <a:xfrm>
            <a:off x="348087" y="494322"/>
            <a:ext cx="10571998" cy="970450"/>
          </a:xfrm>
        </p:spPr>
        <p:txBody>
          <a:bodyPr/>
          <a:lstStyle/>
          <a:p>
            <a:r>
              <a:rPr lang="en-IN" sz="6000" dirty="0">
                <a:effectLst/>
                <a:latin typeface="Adobe Garamond Pro" panose="02020502060506020403" pitchFamily="18" charset="0"/>
              </a:rPr>
              <a:t>Demonstration - 1</a:t>
            </a:r>
          </a:p>
        </p:txBody>
      </p:sp>
      <p:sp>
        <p:nvSpPr>
          <p:cNvPr id="5" name="Title 3">
            <a:extLst>
              <a:ext uri="{FF2B5EF4-FFF2-40B4-BE49-F238E27FC236}">
                <a16:creationId xmlns:a16="http://schemas.microsoft.com/office/drawing/2014/main" id="{317FB101-3320-E7F7-0371-3D2D1F5AB299}"/>
              </a:ext>
            </a:extLst>
          </p:cNvPr>
          <p:cNvSpPr txBox="1">
            <a:spLocks/>
          </p:cNvSpPr>
          <p:nvPr/>
        </p:nvSpPr>
        <p:spPr>
          <a:xfrm>
            <a:off x="273377" y="2232291"/>
            <a:ext cx="11293312" cy="923330"/>
          </a:xfrm>
          <a:prstGeom prst="rect">
            <a:avLst/>
          </a:prstGeom>
          <a:noFill/>
          <a:effectLst/>
        </p:spPr>
        <p:txBody>
          <a:bodyPr vert="horz" wrap="square" lIns="91440" tIns="45720" rIns="91440" bIns="45720" rtlCol="0" anchor="b">
            <a:spAutoFit/>
          </a:bodyPr>
          <a:lstStyle>
            <a:lvl1pPr algn="l" defTabSz="457200" rtl="0" eaLnBrk="1" latinLnBrk="0" hangingPunct="1">
              <a:spcBef>
                <a:spcPct val="0"/>
              </a:spcBef>
              <a:buNone/>
              <a:defRPr sz="4000" b="1" kern="1200">
                <a:solidFill>
                  <a:srgbClr val="FEFEFE"/>
                </a:solidFill>
                <a:effectLst>
                  <a:outerShdw blurRad="50800" dir="14400000" algn="ctr" rotWithShape="0">
                    <a:schemeClr val="bg1">
                      <a:alpha val="60000"/>
                    </a:scheme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5400" dirty="0">
                <a:effectLst/>
                <a:latin typeface="Adobe Garamond Pro" panose="02020502060506020403" pitchFamily="18" charset="0"/>
              </a:rPr>
              <a:t>Internal Policy Question Workflow</a:t>
            </a:r>
          </a:p>
        </p:txBody>
      </p:sp>
      <p:sp>
        <p:nvSpPr>
          <p:cNvPr id="7" name="TextBox 6">
            <a:extLst>
              <a:ext uri="{FF2B5EF4-FFF2-40B4-BE49-F238E27FC236}">
                <a16:creationId xmlns:a16="http://schemas.microsoft.com/office/drawing/2014/main" id="{CC0C34D0-B547-0529-D582-F9869CD01C30}"/>
              </a:ext>
            </a:extLst>
          </p:cNvPr>
          <p:cNvSpPr txBox="1"/>
          <p:nvPr/>
        </p:nvSpPr>
        <p:spPr>
          <a:xfrm>
            <a:off x="273377" y="3221609"/>
            <a:ext cx="11736371" cy="3046988"/>
          </a:xfrm>
          <a:prstGeom prst="rect">
            <a:avLst/>
          </a:prstGeom>
          <a:noFill/>
        </p:spPr>
        <p:txBody>
          <a:bodyPr wrap="square">
            <a:spAutoFit/>
          </a:bodyPr>
          <a:lstStyle/>
          <a:p>
            <a:r>
              <a:rPr lang="en-US" sz="2400" dirty="0"/>
              <a:t>The employee asks an internal payroll policy question through the conversational support assistant. After receiving a grounded response from the approved knowledge base, the employee asks another question related to their individual payroll update status, which the assistant cannot access. The assistant then offers support ticket creation, validates employee input details, generates a ticket ID, validates ticket ID formats during status lookup, and allows the employee to check ticket status before ending the conversation.</a:t>
            </a:r>
            <a:endParaRPr lang="en-IN" sz="2400" dirty="0"/>
          </a:p>
        </p:txBody>
      </p:sp>
    </p:spTree>
    <p:extLst>
      <p:ext uri="{BB962C8B-B14F-4D97-AF65-F5344CB8AC3E}">
        <p14:creationId xmlns:p14="http://schemas.microsoft.com/office/powerpoint/2010/main" val="37108865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138E6-796C-50CF-F4CC-095BBC8D6345}"/>
            </a:ext>
          </a:extLst>
        </p:cNvPr>
        <p:cNvGrpSpPr/>
        <p:nvPr/>
      </p:nvGrpSpPr>
      <p:grpSpPr>
        <a:xfrm>
          <a:off x="0" y="0"/>
          <a:ext cx="0" cy="0"/>
          <a:chOff x="0" y="0"/>
          <a:chExt cx="0" cy="0"/>
        </a:xfrm>
      </p:grpSpPr>
      <p:sp>
        <p:nvSpPr>
          <p:cNvPr id="4" name="Text Placeholder 2">
            <a:extLst>
              <a:ext uri="{FF2B5EF4-FFF2-40B4-BE49-F238E27FC236}">
                <a16:creationId xmlns:a16="http://schemas.microsoft.com/office/drawing/2014/main" id="{B2F2AE6E-314C-39A4-B942-4C07EB810C93}"/>
              </a:ext>
            </a:extLst>
          </p:cNvPr>
          <p:cNvSpPr txBox="1">
            <a:spLocks/>
          </p:cNvSpPr>
          <p:nvPr/>
        </p:nvSpPr>
        <p:spPr>
          <a:xfrm>
            <a:off x="171254" y="5172634"/>
            <a:ext cx="11715946" cy="1530375"/>
          </a:xfrm>
          <a:prstGeom prst="rect">
            <a:avLst/>
          </a:prstGeom>
          <a:effectLst/>
        </p:spPr>
        <p:txBody>
          <a:bodyPr vert="horz" lIns="91440" tIns="45720" rIns="91440" bIns="45720" rtlCol="0" anchor="t">
            <a:noAutofit/>
          </a:bodyPr>
          <a:lstStyle>
            <a:lvl1pPr marL="0" indent="0" algn="r" defTabSz="457200" rtl="0" eaLnBrk="1" latinLnBrk="0" hangingPunct="1">
              <a:spcBef>
                <a:spcPct val="20000"/>
              </a:spcBef>
              <a:spcAft>
                <a:spcPts val="600"/>
              </a:spcAft>
              <a:buClr>
                <a:schemeClr val="accent1"/>
              </a:buClr>
              <a:buFont typeface="Wingdings 2" charset="2"/>
              <a:buNone/>
              <a:defRPr sz="1800" kern="1200">
                <a:solidFill>
                  <a:schemeClr val="tx1"/>
                </a:solidFill>
                <a:effectLst>
                  <a:outerShdw blurRad="50800" dir="14400000" algn="ctr" rotWithShape="0">
                    <a:schemeClr val="bg1">
                      <a:alpha val="40000"/>
                    </a:schemeClr>
                  </a:outerShdw>
                </a:effectLst>
                <a:latin typeface="+mn-lt"/>
                <a:ea typeface="+mn-ea"/>
                <a:cs typeface="+mn-cs"/>
              </a:defRPr>
            </a:lvl1pPr>
            <a:lvl2pPr marL="457200" indent="0" algn="l" defTabSz="457200" rtl="0" eaLnBrk="1" latinLnBrk="0" hangingPunct="1">
              <a:spcBef>
                <a:spcPct val="20000"/>
              </a:spcBef>
              <a:spcAft>
                <a:spcPts val="600"/>
              </a:spcAft>
              <a:buClr>
                <a:schemeClr val="accent1"/>
              </a:buClr>
              <a:buFont typeface="Wingdings 2" charset="2"/>
              <a:buNone/>
              <a:defRPr sz="18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2pPr>
            <a:lvl3pPr marL="914400" indent="0" algn="l" defTabSz="457200" rtl="0" eaLnBrk="1" latinLnBrk="0" hangingPunct="1">
              <a:spcBef>
                <a:spcPct val="20000"/>
              </a:spcBef>
              <a:spcAft>
                <a:spcPts val="600"/>
              </a:spcAft>
              <a:buClr>
                <a:schemeClr val="accent1"/>
              </a:buClr>
              <a:buFont typeface="Wingdings 2" charset="2"/>
              <a:buNone/>
              <a:defRPr sz="16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3pPr>
            <a:lvl4pPr marL="13716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4pPr>
            <a:lvl5pPr marL="18288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5pPr>
            <a:lvl6pPr marL="22860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6pPr>
            <a:lvl7pPr marL="27432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7pPr>
            <a:lvl8pPr marL="32004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8pPr>
            <a:lvl9pPr marL="36576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9pPr>
          </a:lstStyle>
          <a:p>
            <a:pPr algn="l"/>
            <a:r>
              <a:rPr lang="en-IN" sz="2800" u="sng" dirty="0">
                <a:effectLst/>
                <a:latin typeface="Adobe Garamond Pro" panose="02020502060506020403" pitchFamily="18" charset="0"/>
              </a:rPr>
              <a:t>Greeting and Policy Question Flow (Question Selection)</a:t>
            </a:r>
          </a:p>
          <a:p>
            <a:pPr algn="l"/>
            <a:r>
              <a:rPr lang="en-US" sz="2400" dirty="0">
                <a:effectLst/>
                <a:latin typeface="Adobe Garamond Pro" panose="02020502060506020403" pitchFamily="18" charset="0"/>
              </a:rPr>
              <a:t>The employee selects the relevant support category and submits a payroll policy question through the assistant.</a:t>
            </a:r>
            <a:endParaRPr lang="en-IN" sz="2400" dirty="0">
              <a:effectLst/>
              <a:latin typeface="Adobe Garamond Pro" panose="02020502060506020403" pitchFamily="18" charset="0"/>
            </a:endParaRPr>
          </a:p>
        </p:txBody>
      </p:sp>
      <p:pic>
        <p:nvPicPr>
          <p:cNvPr id="3" name="Picture 2">
            <a:extLst>
              <a:ext uri="{FF2B5EF4-FFF2-40B4-BE49-F238E27FC236}">
                <a16:creationId xmlns:a16="http://schemas.microsoft.com/office/drawing/2014/main" id="{2B665447-672A-BAB9-6476-ADAE291A58E3}"/>
              </a:ext>
            </a:extLst>
          </p:cNvPr>
          <p:cNvPicPr>
            <a:picLocks noChangeAspect="1"/>
          </p:cNvPicPr>
          <p:nvPr/>
        </p:nvPicPr>
        <p:blipFill>
          <a:blip r:embed="rId2"/>
          <a:stretch>
            <a:fillRect/>
          </a:stretch>
        </p:blipFill>
        <p:spPr>
          <a:xfrm>
            <a:off x="171254" y="405700"/>
            <a:ext cx="5059719" cy="3921283"/>
          </a:xfrm>
          <a:prstGeom prst="rect">
            <a:avLst/>
          </a:prstGeom>
        </p:spPr>
      </p:pic>
      <p:pic>
        <p:nvPicPr>
          <p:cNvPr id="6" name="Picture 5">
            <a:extLst>
              <a:ext uri="{FF2B5EF4-FFF2-40B4-BE49-F238E27FC236}">
                <a16:creationId xmlns:a16="http://schemas.microsoft.com/office/drawing/2014/main" id="{FC0185A2-BE10-5790-B2EC-45882F075659}"/>
              </a:ext>
            </a:extLst>
          </p:cNvPr>
          <p:cNvPicPr>
            <a:picLocks noChangeAspect="1"/>
          </p:cNvPicPr>
          <p:nvPr/>
        </p:nvPicPr>
        <p:blipFill>
          <a:blip r:embed="rId3"/>
          <a:stretch>
            <a:fillRect/>
          </a:stretch>
        </p:blipFill>
        <p:spPr>
          <a:xfrm>
            <a:off x="5394014" y="679123"/>
            <a:ext cx="5702593" cy="2502029"/>
          </a:xfrm>
          <a:prstGeom prst="rect">
            <a:avLst/>
          </a:prstGeom>
        </p:spPr>
      </p:pic>
    </p:spTree>
    <p:extLst>
      <p:ext uri="{BB962C8B-B14F-4D97-AF65-F5344CB8AC3E}">
        <p14:creationId xmlns:p14="http://schemas.microsoft.com/office/powerpoint/2010/main" val="26992644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9CB9F-C095-0E6B-CC8D-99F314367B44}"/>
            </a:ext>
          </a:extLst>
        </p:cNvPr>
        <p:cNvGrpSpPr/>
        <p:nvPr/>
      </p:nvGrpSpPr>
      <p:grpSpPr>
        <a:xfrm>
          <a:off x="0" y="0"/>
          <a:ext cx="0" cy="0"/>
          <a:chOff x="0" y="0"/>
          <a:chExt cx="0" cy="0"/>
        </a:xfrm>
      </p:grpSpPr>
      <p:sp>
        <p:nvSpPr>
          <p:cNvPr id="4" name="Text Placeholder 2">
            <a:extLst>
              <a:ext uri="{FF2B5EF4-FFF2-40B4-BE49-F238E27FC236}">
                <a16:creationId xmlns:a16="http://schemas.microsoft.com/office/drawing/2014/main" id="{7D512E69-19C1-AA57-6F1B-D296B6F0009B}"/>
              </a:ext>
            </a:extLst>
          </p:cNvPr>
          <p:cNvSpPr txBox="1">
            <a:spLocks/>
          </p:cNvSpPr>
          <p:nvPr/>
        </p:nvSpPr>
        <p:spPr>
          <a:xfrm>
            <a:off x="114692" y="5040659"/>
            <a:ext cx="11979898" cy="1530375"/>
          </a:xfrm>
          <a:prstGeom prst="rect">
            <a:avLst/>
          </a:prstGeom>
          <a:effectLst/>
        </p:spPr>
        <p:txBody>
          <a:bodyPr vert="horz" lIns="91440" tIns="45720" rIns="91440" bIns="45720" rtlCol="0" anchor="t">
            <a:noAutofit/>
          </a:bodyPr>
          <a:lstStyle>
            <a:lvl1pPr marL="0" indent="0" algn="r" defTabSz="457200" rtl="0" eaLnBrk="1" latinLnBrk="0" hangingPunct="1">
              <a:spcBef>
                <a:spcPct val="20000"/>
              </a:spcBef>
              <a:spcAft>
                <a:spcPts val="600"/>
              </a:spcAft>
              <a:buClr>
                <a:schemeClr val="accent1"/>
              </a:buClr>
              <a:buFont typeface="Wingdings 2" charset="2"/>
              <a:buNone/>
              <a:defRPr sz="1800" kern="1200">
                <a:solidFill>
                  <a:schemeClr val="tx1"/>
                </a:solidFill>
                <a:effectLst>
                  <a:outerShdw blurRad="50800" dir="14400000" algn="ctr" rotWithShape="0">
                    <a:schemeClr val="bg1">
                      <a:alpha val="40000"/>
                    </a:schemeClr>
                  </a:outerShdw>
                </a:effectLst>
                <a:latin typeface="+mn-lt"/>
                <a:ea typeface="+mn-ea"/>
                <a:cs typeface="+mn-cs"/>
              </a:defRPr>
            </a:lvl1pPr>
            <a:lvl2pPr marL="457200" indent="0" algn="l" defTabSz="457200" rtl="0" eaLnBrk="1" latinLnBrk="0" hangingPunct="1">
              <a:spcBef>
                <a:spcPct val="20000"/>
              </a:spcBef>
              <a:spcAft>
                <a:spcPts val="600"/>
              </a:spcAft>
              <a:buClr>
                <a:schemeClr val="accent1"/>
              </a:buClr>
              <a:buFont typeface="Wingdings 2" charset="2"/>
              <a:buNone/>
              <a:defRPr sz="18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2pPr>
            <a:lvl3pPr marL="914400" indent="0" algn="l" defTabSz="457200" rtl="0" eaLnBrk="1" latinLnBrk="0" hangingPunct="1">
              <a:spcBef>
                <a:spcPct val="20000"/>
              </a:spcBef>
              <a:spcAft>
                <a:spcPts val="600"/>
              </a:spcAft>
              <a:buClr>
                <a:schemeClr val="accent1"/>
              </a:buClr>
              <a:buFont typeface="Wingdings 2" charset="2"/>
              <a:buNone/>
              <a:defRPr sz="16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3pPr>
            <a:lvl4pPr marL="13716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4pPr>
            <a:lvl5pPr marL="18288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5pPr>
            <a:lvl6pPr marL="22860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6pPr>
            <a:lvl7pPr marL="27432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7pPr>
            <a:lvl8pPr marL="32004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8pPr>
            <a:lvl9pPr marL="36576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9pPr>
          </a:lstStyle>
          <a:p>
            <a:pPr algn="l"/>
            <a:r>
              <a:rPr lang="en-IN" sz="2800" u="sng" dirty="0">
                <a:effectLst/>
                <a:latin typeface="Adobe Garamond Pro" panose="02020502060506020403" pitchFamily="18" charset="0"/>
              </a:rPr>
              <a:t>Knowledge-Base Answer Found</a:t>
            </a:r>
          </a:p>
          <a:p>
            <a:pPr algn="l"/>
            <a:r>
              <a:rPr lang="en-US" sz="2400" dirty="0">
                <a:effectLst/>
                <a:latin typeface="Adobe Garamond Pro" panose="02020502060506020403" pitchFamily="18" charset="0"/>
              </a:rPr>
              <a:t>The assistant retrieves a grounded answer from the approved internal knowledge base about updating payroll bank details </a:t>
            </a:r>
            <a:r>
              <a:rPr lang="en-US" dirty="0"/>
              <a:t>and </a:t>
            </a:r>
            <a:r>
              <a:rPr lang="en-US" sz="2400" dirty="0">
                <a:effectLst/>
                <a:latin typeface="Adobe Garamond Pro" panose="02020502060506020403" pitchFamily="18" charset="0"/>
              </a:rPr>
              <a:t>asks whether the response was helpful before continuing the conversation.</a:t>
            </a:r>
          </a:p>
          <a:p>
            <a:pPr algn="l"/>
            <a:endParaRPr lang="en-IN" sz="2400" dirty="0">
              <a:effectLst/>
              <a:latin typeface="Adobe Garamond Pro" panose="02020502060506020403" pitchFamily="18" charset="0"/>
            </a:endParaRPr>
          </a:p>
        </p:txBody>
      </p:sp>
      <p:pic>
        <p:nvPicPr>
          <p:cNvPr id="5" name="Picture 4">
            <a:extLst>
              <a:ext uri="{FF2B5EF4-FFF2-40B4-BE49-F238E27FC236}">
                <a16:creationId xmlns:a16="http://schemas.microsoft.com/office/drawing/2014/main" id="{E43C83E3-3B9E-F3B4-1F4D-6C1B162B185B}"/>
              </a:ext>
            </a:extLst>
          </p:cNvPr>
          <p:cNvPicPr>
            <a:picLocks noChangeAspect="1"/>
          </p:cNvPicPr>
          <p:nvPr/>
        </p:nvPicPr>
        <p:blipFill>
          <a:blip r:embed="rId2"/>
          <a:stretch>
            <a:fillRect/>
          </a:stretch>
        </p:blipFill>
        <p:spPr>
          <a:xfrm>
            <a:off x="114692" y="126710"/>
            <a:ext cx="6123680" cy="4671533"/>
          </a:xfrm>
          <a:prstGeom prst="rect">
            <a:avLst/>
          </a:prstGeom>
        </p:spPr>
      </p:pic>
      <p:pic>
        <p:nvPicPr>
          <p:cNvPr id="8" name="Picture 7">
            <a:extLst>
              <a:ext uri="{FF2B5EF4-FFF2-40B4-BE49-F238E27FC236}">
                <a16:creationId xmlns:a16="http://schemas.microsoft.com/office/drawing/2014/main" id="{67D44204-A39F-8F8E-4B13-210E00E25318}"/>
              </a:ext>
            </a:extLst>
          </p:cNvPr>
          <p:cNvPicPr>
            <a:picLocks noChangeAspect="1"/>
          </p:cNvPicPr>
          <p:nvPr/>
        </p:nvPicPr>
        <p:blipFill>
          <a:blip r:embed="rId3"/>
          <a:stretch>
            <a:fillRect/>
          </a:stretch>
        </p:blipFill>
        <p:spPr>
          <a:xfrm>
            <a:off x="6377971" y="126710"/>
            <a:ext cx="5620039" cy="2114659"/>
          </a:xfrm>
          <a:prstGeom prst="rect">
            <a:avLst/>
          </a:prstGeom>
        </p:spPr>
      </p:pic>
      <p:pic>
        <p:nvPicPr>
          <p:cNvPr id="10" name="Picture 9">
            <a:extLst>
              <a:ext uri="{FF2B5EF4-FFF2-40B4-BE49-F238E27FC236}">
                <a16:creationId xmlns:a16="http://schemas.microsoft.com/office/drawing/2014/main" id="{66354F85-60BE-2DA8-0275-72DB5E5BA3DC}"/>
              </a:ext>
            </a:extLst>
          </p:cNvPr>
          <p:cNvPicPr>
            <a:picLocks noChangeAspect="1"/>
          </p:cNvPicPr>
          <p:nvPr/>
        </p:nvPicPr>
        <p:blipFill>
          <a:blip r:embed="rId4"/>
          <a:stretch>
            <a:fillRect/>
          </a:stretch>
        </p:blipFill>
        <p:spPr>
          <a:xfrm>
            <a:off x="6377971" y="2353123"/>
            <a:ext cx="5620039" cy="2463493"/>
          </a:xfrm>
          <a:prstGeom prst="rect">
            <a:avLst/>
          </a:prstGeom>
        </p:spPr>
      </p:pic>
    </p:spTree>
    <p:extLst>
      <p:ext uri="{BB962C8B-B14F-4D97-AF65-F5344CB8AC3E}">
        <p14:creationId xmlns:p14="http://schemas.microsoft.com/office/powerpoint/2010/main" val="9202068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D6821-AD9A-00CA-8636-F87A3EA6B2E3}"/>
            </a:ext>
          </a:extLst>
        </p:cNvPr>
        <p:cNvGrpSpPr/>
        <p:nvPr/>
      </p:nvGrpSpPr>
      <p:grpSpPr>
        <a:xfrm>
          <a:off x="0" y="0"/>
          <a:ext cx="0" cy="0"/>
          <a:chOff x="0" y="0"/>
          <a:chExt cx="0" cy="0"/>
        </a:xfrm>
      </p:grpSpPr>
      <p:sp>
        <p:nvSpPr>
          <p:cNvPr id="4" name="Text Placeholder 2">
            <a:extLst>
              <a:ext uri="{FF2B5EF4-FFF2-40B4-BE49-F238E27FC236}">
                <a16:creationId xmlns:a16="http://schemas.microsoft.com/office/drawing/2014/main" id="{14ECEEE6-DC7D-F654-786C-45CD4B35BD13}"/>
              </a:ext>
            </a:extLst>
          </p:cNvPr>
          <p:cNvSpPr txBox="1">
            <a:spLocks/>
          </p:cNvSpPr>
          <p:nvPr/>
        </p:nvSpPr>
        <p:spPr>
          <a:xfrm>
            <a:off x="142973" y="5059513"/>
            <a:ext cx="11715946" cy="1530375"/>
          </a:xfrm>
          <a:prstGeom prst="rect">
            <a:avLst/>
          </a:prstGeom>
          <a:effectLst/>
        </p:spPr>
        <p:txBody>
          <a:bodyPr vert="horz" lIns="91440" tIns="45720" rIns="91440" bIns="45720" rtlCol="0" anchor="t">
            <a:noAutofit/>
          </a:bodyPr>
          <a:lstStyle>
            <a:lvl1pPr marL="0" indent="0" algn="r" defTabSz="457200" rtl="0" eaLnBrk="1" latinLnBrk="0" hangingPunct="1">
              <a:spcBef>
                <a:spcPct val="20000"/>
              </a:spcBef>
              <a:spcAft>
                <a:spcPts val="600"/>
              </a:spcAft>
              <a:buClr>
                <a:schemeClr val="accent1"/>
              </a:buClr>
              <a:buFont typeface="Wingdings 2" charset="2"/>
              <a:buNone/>
              <a:defRPr sz="1800" kern="1200">
                <a:solidFill>
                  <a:schemeClr val="tx1"/>
                </a:solidFill>
                <a:effectLst>
                  <a:outerShdw blurRad="50800" dir="14400000" algn="ctr" rotWithShape="0">
                    <a:schemeClr val="bg1">
                      <a:alpha val="40000"/>
                    </a:schemeClr>
                  </a:outerShdw>
                </a:effectLst>
                <a:latin typeface="+mn-lt"/>
                <a:ea typeface="+mn-ea"/>
                <a:cs typeface="+mn-cs"/>
              </a:defRPr>
            </a:lvl1pPr>
            <a:lvl2pPr marL="457200" indent="0" algn="l" defTabSz="457200" rtl="0" eaLnBrk="1" latinLnBrk="0" hangingPunct="1">
              <a:spcBef>
                <a:spcPct val="20000"/>
              </a:spcBef>
              <a:spcAft>
                <a:spcPts val="600"/>
              </a:spcAft>
              <a:buClr>
                <a:schemeClr val="accent1"/>
              </a:buClr>
              <a:buFont typeface="Wingdings 2" charset="2"/>
              <a:buNone/>
              <a:defRPr sz="18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2pPr>
            <a:lvl3pPr marL="914400" indent="0" algn="l" defTabSz="457200" rtl="0" eaLnBrk="1" latinLnBrk="0" hangingPunct="1">
              <a:spcBef>
                <a:spcPct val="20000"/>
              </a:spcBef>
              <a:spcAft>
                <a:spcPts val="600"/>
              </a:spcAft>
              <a:buClr>
                <a:schemeClr val="accent1"/>
              </a:buClr>
              <a:buFont typeface="Wingdings 2" charset="2"/>
              <a:buNone/>
              <a:defRPr sz="16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3pPr>
            <a:lvl4pPr marL="13716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4pPr>
            <a:lvl5pPr marL="18288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5pPr>
            <a:lvl6pPr marL="22860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6pPr>
            <a:lvl7pPr marL="27432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7pPr>
            <a:lvl8pPr marL="32004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8pPr>
            <a:lvl9pPr marL="36576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9pPr>
          </a:lstStyle>
          <a:p>
            <a:pPr algn="l"/>
            <a:r>
              <a:rPr lang="en-IN" sz="2800" u="sng" dirty="0">
                <a:effectLst/>
                <a:latin typeface="Adobe Garamond Pro" panose="02020502060506020403" pitchFamily="18" charset="0"/>
              </a:rPr>
              <a:t>Policy Question Flow (Another Question Selection) </a:t>
            </a:r>
          </a:p>
          <a:p>
            <a:pPr algn="l"/>
            <a:r>
              <a:rPr lang="en-US" sz="2400" dirty="0">
                <a:effectLst/>
                <a:latin typeface="Adobe Garamond Pro" panose="02020502060506020403" pitchFamily="18" charset="0"/>
              </a:rPr>
              <a:t>The employee asks whether their specific bank detail update has been processed, which the assistant cannot verify from the approved knowledge base and therefore offers additional support options.</a:t>
            </a:r>
            <a:endParaRPr lang="en-IN" sz="2400" dirty="0">
              <a:effectLst/>
              <a:latin typeface="Adobe Garamond Pro" panose="02020502060506020403" pitchFamily="18" charset="0"/>
            </a:endParaRPr>
          </a:p>
        </p:txBody>
      </p:sp>
      <p:pic>
        <p:nvPicPr>
          <p:cNvPr id="3" name="Picture 2">
            <a:extLst>
              <a:ext uri="{FF2B5EF4-FFF2-40B4-BE49-F238E27FC236}">
                <a16:creationId xmlns:a16="http://schemas.microsoft.com/office/drawing/2014/main" id="{3300CA00-C9C6-9E3C-4400-7723D5393648}"/>
              </a:ext>
            </a:extLst>
          </p:cNvPr>
          <p:cNvPicPr>
            <a:picLocks noChangeAspect="1"/>
          </p:cNvPicPr>
          <p:nvPr/>
        </p:nvPicPr>
        <p:blipFill>
          <a:blip r:embed="rId2"/>
          <a:srcRect b="27745"/>
          <a:stretch>
            <a:fillRect/>
          </a:stretch>
        </p:blipFill>
        <p:spPr>
          <a:xfrm>
            <a:off x="227816" y="1107098"/>
            <a:ext cx="5664491" cy="2229991"/>
          </a:xfrm>
          <a:prstGeom prst="rect">
            <a:avLst/>
          </a:prstGeom>
        </p:spPr>
      </p:pic>
      <p:pic>
        <p:nvPicPr>
          <p:cNvPr id="7" name="Picture 6">
            <a:extLst>
              <a:ext uri="{FF2B5EF4-FFF2-40B4-BE49-F238E27FC236}">
                <a16:creationId xmlns:a16="http://schemas.microsoft.com/office/drawing/2014/main" id="{56C91B56-5864-5AB1-1FE5-787DEAB51A27}"/>
              </a:ext>
            </a:extLst>
          </p:cNvPr>
          <p:cNvPicPr>
            <a:picLocks noChangeAspect="1"/>
          </p:cNvPicPr>
          <p:nvPr/>
        </p:nvPicPr>
        <p:blipFill>
          <a:blip r:embed="rId3"/>
          <a:stretch>
            <a:fillRect/>
          </a:stretch>
        </p:blipFill>
        <p:spPr>
          <a:xfrm>
            <a:off x="6133708" y="343351"/>
            <a:ext cx="5791200" cy="4179283"/>
          </a:xfrm>
          <a:prstGeom prst="rect">
            <a:avLst/>
          </a:prstGeom>
        </p:spPr>
      </p:pic>
    </p:spTree>
    <p:extLst>
      <p:ext uri="{BB962C8B-B14F-4D97-AF65-F5344CB8AC3E}">
        <p14:creationId xmlns:p14="http://schemas.microsoft.com/office/powerpoint/2010/main" val="1942919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A662F-B285-F45B-1877-F634ACA426E9}"/>
            </a:ext>
          </a:extLst>
        </p:cNvPr>
        <p:cNvGrpSpPr/>
        <p:nvPr/>
      </p:nvGrpSpPr>
      <p:grpSpPr>
        <a:xfrm>
          <a:off x="0" y="0"/>
          <a:ext cx="0" cy="0"/>
          <a:chOff x="0" y="0"/>
          <a:chExt cx="0" cy="0"/>
        </a:xfrm>
      </p:grpSpPr>
      <p:sp>
        <p:nvSpPr>
          <p:cNvPr id="4" name="Text Placeholder 2">
            <a:extLst>
              <a:ext uri="{FF2B5EF4-FFF2-40B4-BE49-F238E27FC236}">
                <a16:creationId xmlns:a16="http://schemas.microsoft.com/office/drawing/2014/main" id="{A959321A-7D9E-D852-0042-5CC9CAF356DD}"/>
              </a:ext>
            </a:extLst>
          </p:cNvPr>
          <p:cNvSpPr txBox="1">
            <a:spLocks/>
          </p:cNvSpPr>
          <p:nvPr/>
        </p:nvSpPr>
        <p:spPr>
          <a:xfrm>
            <a:off x="95840" y="4993525"/>
            <a:ext cx="11715946" cy="1745442"/>
          </a:xfrm>
          <a:prstGeom prst="rect">
            <a:avLst/>
          </a:prstGeom>
          <a:effectLst/>
        </p:spPr>
        <p:txBody>
          <a:bodyPr vert="horz" lIns="91440" tIns="45720" rIns="91440" bIns="45720" rtlCol="0" anchor="t">
            <a:noAutofit/>
          </a:bodyPr>
          <a:lstStyle>
            <a:lvl1pPr marL="0" indent="0" algn="r" defTabSz="457200" rtl="0" eaLnBrk="1" latinLnBrk="0" hangingPunct="1">
              <a:spcBef>
                <a:spcPct val="20000"/>
              </a:spcBef>
              <a:spcAft>
                <a:spcPts val="600"/>
              </a:spcAft>
              <a:buClr>
                <a:schemeClr val="accent1"/>
              </a:buClr>
              <a:buFont typeface="Wingdings 2" charset="2"/>
              <a:buNone/>
              <a:defRPr sz="1800" kern="1200">
                <a:solidFill>
                  <a:schemeClr val="tx1"/>
                </a:solidFill>
                <a:effectLst>
                  <a:outerShdw blurRad="50800" dir="14400000" algn="ctr" rotWithShape="0">
                    <a:schemeClr val="bg1">
                      <a:alpha val="40000"/>
                    </a:schemeClr>
                  </a:outerShdw>
                </a:effectLst>
                <a:latin typeface="+mn-lt"/>
                <a:ea typeface="+mn-ea"/>
                <a:cs typeface="+mn-cs"/>
              </a:defRPr>
            </a:lvl1pPr>
            <a:lvl2pPr marL="457200" indent="0" algn="l" defTabSz="457200" rtl="0" eaLnBrk="1" latinLnBrk="0" hangingPunct="1">
              <a:spcBef>
                <a:spcPct val="20000"/>
              </a:spcBef>
              <a:spcAft>
                <a:spcPts val="600"/>
              </a:spcAft>
              <a:buClr>
                <a:schemeClr val="accent1"/>
              </a:buClr>
              <a:buFont typeface="Wingdings 2" charset="2"/>
              <a:buNone/>
              <a:defRPr sz="18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2pPr>
            <a:lvl3pPr marL="914400" indent="0" algn="l" defTabSz="457200" rtl="0" eaLnBrk="1" latinLnBrk="0" hangingPunct="1">
              <a:spcBef>
                <a:spcPct val="20000"/>
              </a:spcBef>
              <a:spcAft>
                <a:spcPts val="600"/>
              </a:spcAft>
              <a:buClr>
                <a:schemeClr val="accent1"/>
              </a:buClr>
              <a:buFont typeface="Wingdings 2" charset="2"/>
              <a:buNone/>
              <a:defRPr sz="16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3pPr>
            <a:lvl4pPr marL="13716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4pPr>
            <a:lvl5pPr marL="18288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5pPr>
            <a:lvl6pPr marL="22860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6pPr>
            <a:lvl7pPr marL="27432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7pPr>
            <a:lvl8pPr marL="32004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8pPr>
            <a:lvl9pPr marL="36576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9pPr>
          </a:lstStyle>
          <a:p>
            <a:pPr algn="l"/>
            <a:r>
              <a:rPr lang="en-US" sz="2800" u="sng" dirty="0">
                <a:effectLst/>
                <a:latin typeface="Adobe Garamond Pro" panose="02020502060506020403" pitchFamily="18" charset="0"/>
              </a:rPr>
              <a:t>Support Ticket Creation: Employee Details &amp; Email Validation</a:t>
            </a:r>
          </a:p>
          <a:p>
            <a:pPr algn="l"/>
            <a:r>
              <a:rPr lang="en-US" sz="2400" dirty="0">
                <a:effectLst/>
                <a:latin typeface="Adobe Garamond Pro" panose="02020502060506020403" pitchFamily="18" charset="0"/>
              </a:rPr>
              <a:t>The employee chooses to raise a support request and provides the required details. The assistant collects the employee name, validates the official company email, captures the issue type and description, for ticket generation.</a:t>
            </a:r>
            <a:endParaRPr lang="en-IN" sz="2400" dirty="0">
              <a:effectLst/>
              <a:latin typeface="Adobe Garamond Pro" panose="02020502060506020403" pitchFamily="18" charset="0"/>
            </a:endParaRPr>
          </a:p>
        </p:txBody>
      </p:sp>
      <p:pic>
        <p:nvPicPr>
          <p:cNvPr id="5" name="Picture 4">
            <a:extLst>
              <a:ext uri="{FF2B5EF4-FFF2-40B4-BE49-F238E27FC236}">
                <a16:creationId xmlns:a16="http://schemas.microsoft.com/office/drawing/2014/main" id="{96839E0D-28A4-A03F-9D0F-299536CDDFD5}"/>
              </a:ext>
            </a:extLst>
          </p:cNvPr>
          <p:cNvPicPr>
            <a:picLocks noChangeAspect="1"/>
          </p:cNvPicPr>
          <p:nvPr/>
        </p:nvPicPr>
        <p:blipFill>
          <a:blip r:embed="rId2"/>
          <a:stretch>
            <a:fillRect/>
          </a:stretch>
        </p:blipFill>
        <p:spPr>
          <a:xfrm>
            <a:off x="171253" y="154991"/>
            <a:ext cx="4787245" cy="2512795"/>
          </a:xfrm>
          <a:prstGeom prst="rect">
            <a:avLst/>
          </a:prstGeom>
        </p:spPr>
      </p:pic>
      <p:pic>
        <p:nvPicPr>
          <p:cNvPr id="8" name="Picture 7">
            <a:extLst>
              <a:ext uri="{FF2B5EF4-FFF2-40B4-BE49-F238E27FC236}">
                <a16:creationId xmlns:a16="http://schemas.microsoft.com/office/drawing/2014/main" id="{E2957BEF-BD63-8591-6874-6280C422DA2A}"/>
              </a:ext>
            </a:extLst>
          </p:cNvPr>
          <p:cNvPicPr>
            <a:picLocks noChangeAspect="1"/>
          </p:cNvPicPr>
          <p:nvPr/>
        </p:nvPicPr>
        <p:blipFill>
          <a:blip r:embed="rId3"/>
          <a:stretch>
            <a:fillRect/>
          </a:stretch>
        </p:blipFill>
        <p:spPr>
          <a:xfrm>
            <a:off x="1377933" y="2333311"/>
            <a:ext cx="4787245" cy="2453463"/>
          </a:xfrm>
          <a:prstGeom prst="rect">
            <a:avLst/>
          </a:prstGeom>
        </p:spPr>
      </p:pic>
      <p:pic>
        <p:nvPicPr>
          <p:cNvPr id="13" name="Picture 12">
            <a:extLst>
              <a:ext uri="{FF2B5EF4-FFF2-40B4-BE49-F238E27FC236}">
                <a16:creationId xmlns:a16="http://schemas.microsoft.com/office/drawing/2014/main" id="{D28C3A8D-79D9-1062-4FBE-03DC65F1DFEA}"/>
              </a:ext>
            </a:extLst>
          </p:cNvPr>
          <p:cNvPicPr>
            <a:picLocks noChangeAspect="1"/>
          </p:cNvPicPr>
          <p:nvPr/>
        </p:nvPicPr>
        <p:blipFill>
          <a:blip r:embed="rId4"/>
          <a:stretch>
            <a:fillRect/>
          </a:stretch>
        </p:blipFill>
        <p:spPr>
          <a:xfrm>
            <a:off x="6165178" y="119033"/>
            <a:ext cx="5855569" cy="2584710"/>
          </a:xfrm>
          <a:prstGeom prst="rect">
            <a:avLst/>
          </a:prstGeom>
        </p:spPr>
      </p:pic>
    </p:spTree>
    <p:extLst>
      <p:ext uri="{BB962C8B-B14F-4D97-AF65-F5344CB8AC3E}">
        <p14:creationId xmlns:p14="http://schemas.microsoft.com/office/powerpoint/2010/main" val="3491019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0F1D0-E1B5-AFFE-D880-7CC9C1E9BD06}"/>
            </a:ext>
          </a:extLst>
        </p:cNvPr>
        <p:cNvGrpSpPr/>
        <p:nvPr/>
      </p:nvGrpSpPr>
      <p:grpSpPr>
        <a:xfrm>
          <a:off x="0" y="0"/>
          <a:ext cx="0" cy="0"/>
          <a:chOff x="0" y="0"/>
          <a:chExt cx="0" cy="0"/>
        </a:xfrm>
      </p:grpSpPr>
      <p:sp>
        <p:nvSpPr>
          <p:cNvPr id="4" name="Text Placeholder 2">
            <a:extLst>
              <a:ext uri="{FF2B5EF4-FFF2-40B4-BE49-F238E27FC236}">
                <a16:creationId xmlns:a16="http://schemas.microsoft.com/office/drawing/2014/main" id="{8BCCD02F-60E6-DF1C-67CF-9D66B994AB3E}"/>
              </a:ext>
            </a:extLst>
          </p:cNvPr>
          <p:cNvSpPr txBox="1">
            <a:spLocks/>
          </p:cNvSpPr>
          <p:nvPr/>
        </p:nvSpPr>
        <p:spPr>
          <a:xfrm>
            <a:off x="171254" y="5172634"/>
            <a:ext cx="11715946" cy="1530375"/>
          </a:xfrm>
          <a:prstGeom prst="rect">
            <a:avLst/>
          </a:prstGeom>
          <a:effectLst/>
        </p:spPr>
        <p:txBody>
          <a:bodyPr vert="horz" lIns="91440" tIns="45720" rIns="91440" bIns="45720" rtlCol="0" anchor="t">
            <a:noAutofit/>
          </a:bodyPr>
          <a:lstStyle>
            <a:lvl1pPr marL="0" indent="0" algn="r" defTabSz="457200" rtl="0" eaLnBrk="1" latinLnBrk="0" hangingPunct="1">
              <a:spcBef>
                <a:spcPct val="20000"/>
              </a:spcBef>
              <a:spcAft>
                <a:spcPts val="600"/>
              </a:spcAft>
              <a:buClr>
                <a:schemeClr val="accent1"/>
              </a:buClr>
              <a:buFont typeface="Wingdings 2" charset="2"/>
              <a:buNone/>
              <a:defRPr sz="1800" kern="1200">
                <a:solidFill>
                  <a:schemeClr val="tx1"/>
                </a:solidFill>
                <a:effectLst>
                  <a:outerShdw blurRad="50800" dir="14400000" algn="ctr" rotWithShape="0">
                    <a:schemeClr val="bg1">
                      <a:alpha val="40000"/>
                    </a:schemeClr>
                  </a:outerShdw>
                </a:effectLst>
                <a:latin typeface="+mn-lt"/>
                <a:ea typeface="+mn-ea"/>
                <a:cs typeface="+mn-cs"/>
              </a:defRPr>
            </a:lvl1pPr>
            <a:lvl2pPr marL="457200" indent="0" algn="l" defTabSz="457200" rtl="0" eaLnBrk="1" latinLnBrk="0" hangingPunct="1">
              <a:spcBef>
                <a:spcPct val="20000"/>
              </a:spcBef>
              <a:spcAft>
                <a:spcPts val="600"/>
              </a:spcAft>
              <a:buClr>
                <a:schemeClr val="accent1"/>
              </a:buClr>
              <a:buFont typeface="Wingdings 2" charset="2"/>
              <a:buNone/>
              <a:defRPr sz="18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2pPr>
            <a:lvl3pPr marL="914400" indent="0" algn="l" defTabSz="457200" rtl="0" eaLnBrk="1" latinLnBrk="0" hangingPunct="1">
              <a:spcBef>
                <a:spcPct val="20000"/>
              </a:spcBef>
              <a:spcAft>
                <a:spcPts val="600"/>
              </a:spcAft>
              <a:buClr>
                <a:schemeClr val="accent1"/>
              </a:buClr>
              <a:buFont typeface="Wingdings 2" charset="2"/>
              <a:buNone/>
              <a:defRPr sz="16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3pPr>
            <a:lvl4pPr marL="13716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4pPr>
            <a:lvl5pPr marL="18288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5pPr>
            <a:lvl6pPr marL="22860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6pPr>
            <a:lvl7pPr marL="27432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7pPr>
            <a:lvl8pPr marL="32004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8pPr>
            <a:lvl9pPr marL="36576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9pPr>
          </a:lstStyle>
          <a:p>
            <a:pPr algn="l"/>
            <a:r>
              <a:rPr lang="en-IN" sz="2800" u="sng" dirty="0">
                <a:effectLst/>
                <a:latin typeface="Adobe Garamond Pro" panose="02020502060506020403" pitchFamily="18" charset="0"/>
              </a:rPr>
              <a:t>Ticket Created Successfully</a:t>
            </a:r>
          </a:p>
          <a:p>
            <a:pPr algn="l"/>
            <a:r>
              <a:rPr lang="en-US" sz="2400" dirty="0">
                <a:effectLst/>
                <a:latin typeface="Adobe Garamond Pro" panose="02020502060506020403" pitchFamily="18" charset="0"/>
              </a:rPr>
              <a:t>The assistant validates employee details, records the issue type and description, generates a ticket ID, and confirms the ticket status as Open. </a:t>
            </a:r>
            <a:endParaRPr lang="en-IN" sz="2400" dirty="0">
              <a:effectLst/>
              <a:latin typeface="Adobe Garamond Pro" panose="02020502060506020403" pitchFamily="18" charset="0"/>
            </a:endParaRPr>
          </a:p>
        </p:txBody>
      </p:sp>
      <p:pic>
        <p:nvPicPr>
          <p:cNvPr id="12" name="Picture 11">
            <a:extLst>
              <a:ext uri="{FF2B5EF4-FFF2-40B4-BE49-F238E27FC236}">
                <a16:creationId xmlns:a16="http://schemas.microsoft.com/office/drawing/2014/main" id="{10873E01-6C9E-1CBE-55BD-6871B25939A9}"/>
              </a:ext>
            </a:extLst>
          </p:cNvPr>
          <p:cNvPicPr>
            <a:picLocks noChangeAspect="1"/>
          </p:cNvPicPr>
          <p:nvPr/>
        </p:nvPicPr>
        <p:blipFill>
          <a:blip r:embed="rId2"/>
          <a:stretch>
            <a:fillRect/>
          </a:stretch>
        </p:blipFill>
        <p:spPr>
          <a:xfrm>
            <a:off x="171254" y="154991"/>
            <a:ext cx="5951024" cy="4546392"/>
          </a:xfrm>
          <a:prstGeom prst="rect">
            <a:avLst/>
          </a:prstGeom>
        </p:spPr>
      </p:pic>
      <p:pic>
        <p:nvPicPr>
          <p:cNvPr id="3" name="Picture 2">
            <a:extLst>
              <a:ext uri="{FF2B5EF4-FFF2-40B4-BE49-F238E27FC236}">
                <a16:creationId xmlns:a16="http://schemas.microsoft.com/office/drawing/2014/main" id="{D8760726-06CF-03C8-83F1-9B9570E478D9}"/>
              </a:ext>
            </a:extLst>
          </p:cNvPr>
          <p:cNvPicPr>
            <a:picLocks noChangeAspect="1"/>
          </p:cNvPicPr>
          <p:nvPr/>
        </p:nvPicPr>
        <p:blipFill>
          <a:blip r:embed="rId3"/>
          <a:stretch>
            <a:fillRect/>
          </a:stretch>
        </p:blipFill>
        <p:spPr>
          <a:xfrm>
            <a:off x="6207523" y="954973"/>
            <a:ext cx="5813223" cy="2946428"/>
          </a:xfrm>
          <a:prstGeom prst="rect">
            <a:avLst/>
          </a:prstGeom>
        </p:spPr>
      </p:pic>
    </p:spTree>
    <p:extLst>
      <p:ext uri="{BB962C8B-B14F-4D97-AF65-F5344CB8AC3E}">
        <p14:creationId xmlns:p14="http://schemas.microsoft.com/office/powerpoint/2010/main" val="34072933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B023A-80CC-1990-1EBA-89E18E00E5B1}"/>
            </a:ext>
          </a:extLst>
        </p:cNvPr>
        <p:cNvGrpSpPr/>
        <p:nvPr/>
      </p:nvGrpSpPr>
      <p:grpSpPr>
        <a:xfrm>
          <a:off x="0" y="0"/>
          <a:ext cx="0" cy="0"/>
          <a:chOff x="0" y="0"/>
          <a:chExt cx="0" cy="0"/>
        </a:xfrm>
      </p:grpSpPr>
      <p:sp>
        <p:nvSpPr>
          <p:cNvPr id="4" name="Text Placeholder 2">
            <a:extLst>
              <a:ext uri="{FF2B5EF4-FFF2-40B4-BE49-F238E27FC236}">
                <a16:creationId xmlns:a16="http://schemas.microsoft.com/office/drawing/2014/main" id="{E622E946-D6D8-4F2B-E0C3-A67D6A868959}"/>
              </a:ext>
            </a:extLst>
          </p:cNvPr>
          <p:cNvSpPr txBox="1">
            <a:spLocks/>
          </p:cNvSpPr>
          <p:nvPr/>
        </p:nvSpPr>
        <p:spPr>
          <a:xfrm>
            <a:off x="171254" y="5172634"/>
            <a:ext cx="11715946" cy="1530375"/>
          </a:xfrm>
          <a:prstGeom prst="rect">
            <a:avLst/>
          </a:prstGeom>
          <a:effectLst/>
        </p:spPr>
        <p:txBody>
          <a:bodyPr vert="horz" lIns="91440" tIns="45720" rIns="91440" bIns="45720" rtlCol="0" anchor="t">
            <a:noAutofit/>
          </a:bodyPr>
          <a:lstStyle>
            <a:lvl1pPr marL="0" indent="0" algn="r" defTabSz="457200" rtl="0" eaLnBrk="1" latinLnBrk="0" hangingPunct="1">
              <a:spcBef>
                <a:spcPct val="20000"/>
              </a:spcBef>
              <a:spcAft>
                <a:spcPts val="600"/>
              </a:spcAft>
              <a:buClr>
                <a:schemeClr val="accent1"/>
              </a:buClr>
              <a:buFont typeface="Wingdings 2" charset="2"/>
              <a:buNone/>
              <a:defRPr sz="1800" kern="1200">
                <a:solidFill>
                  <a:schemeClr val="tx1"/>
                </a:solidFill>
                <a:effectLst>
                  <a:outerShdw blurRad="50800" dir="14400000" algn="ctr" rotWithShape="0">
                    <a:schemeClr val="bg1">
                      <a:alpha val="40000"/>
                    </a:schemeClr>
                  </a:outerShdw>
                </a:effectLst>
                <a:latin typeface="+mn-lt"/>
                <a:ea typeface="+mn-ea"/>
                <a:cs typeface="+mn-cs"/>
              </a:defRPr>
            </a:lvl1pPr>
            <a:lvl2pPr marL="457200" indent="0" algn="l" defTabSz="457200" rtl="0" eaLnBrk="1" latinLnBrk="0" hangingPunct="1">
              <a:spcBef>
                <a:spcPct val="20000"/>
              </a:spcBef>
              <a:spcAft>
                <a:spcPts val="600"/>
              </a:spcAft>
              <a:buClr>
                <a:schemeClr val="accent1"/>
              </a:buClr>
              <a:buFont typeface="Wingdings 2" charset="2"/>
              <a:buNone/>
              <a:defRPr sz="18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2pPr>
            <a:lvl3pPr marL="914400" indent="0" algn="l" defTabSz="457200" rtl="0" eaLnBrk="1" latinLnBrk="0" hangingPunct="1">
              <a:spcBef>
                <a:spcPct val="20000"/>
              </a:spcBef>
              <a:spcAft>
                <a:spcPts val="600"/>
              </a:spcAft>
              <a:buClr>
                <a:schemeClr val="accent1"/>
              </a:buClr>
              <a:buFont typeface="Wingdings 2" charset="2"/>
              <a:buNone/>
              <a:defRPr sz="16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3pPr>
            <a:lvl4pPr marL="13716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4pPr>
            <a:lvl5pPr marL="18288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5pPr>
            <a:lvl6pPr marL="22860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6pPr>
            <a:lvl7pPr marL="27432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7pPr>
            <a:lvl8pPr marL="32004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8pPr>
            <a:lvl9pPr marL="36576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9pPr>
          </a:lstStyle>
          <a:p>
            <a:pPr algn="l"/>
            <a:r>
              <a:rPr lang="en-IN" sz="2800" u="sng" dirty="0">
                <a:effectLst/>
                <a:latin typeface="Adobe Garamond Pro" panose="02020502060506020403" pitchFamily="18" charset="0"/>
              </a:rPr>
              <a:t>Ticket Status Lookup</a:t>
            </a:r>
          </a:p>
          <a:p>
            <a:pPr algn="l"/>
            <a:r>
              <a:rPr lang="en-US" sz="2400" dirty="0">
                <a:effectLst/>
                <a:latin typeface="Adobe Garamond Pro" panose="02020502060506020403" pitchFamily="18" charset="0"/>
              </a:rPr>
              <a:t>The employee starts the ticket status workflow to check the progress of the submitted Payroll support request.</a:t>
            </a:r>
            <a:endParaRPr lang="en-IN" sz="2400" dirty="0">
              <a:effectLst/>
              <a:latin typeface="Adobe Garamond Pro" panose="02020502060506020403" pitchFamily="18" charset="0"/>
            </a:endParaRPr>
          </a:p>
        </p:txBody>
      </p:sp>
      <p:pic>
        <p:nvPicPr>
          <p:cNvPr id="7" name="Picture 6">
            <a:extLst>
              <a:ext uri="{FF2B5EF4-FFF2-40B4-BE49-F238E27FC236}">
                <a16:creationId xmlns:a16="http://schemas.microsoft.com/office/drawing/2014/main" id="{E2060EC9-2253-0252-C9EE-0F69B976FB2C}"/>
              </a:ext>
            </a:extLst>
          </p:cNvPr>
          <p:cNvPicPr>
            <a:picLocks noChangeAspect="1"/>
          </p:cNvPicPr>
          <p:nvPr/>
        </p:nvPicPr>
        <p:blipFill>
          <a:blip r:embed="rId2"/>
          <a:stretch>
            <a:fillRect/>
          </a:stretch>
        </p:blipFill>
        <p:spPr>
          <a:xfrm>
            <a:off x="133389" y="510624"/>
            <a:ext cx="5886037" cy="2378331"/>
          </a:xfrm>
          <a:prstGeom prst="rect">
            <a:avLst/>
          </a:prstGeom>
        </p:spPr>
      </p:pic>
      <p:pic>
        <p:nvPicPr>
          <p:cNvPr id="5" name="Picture 4">
            <a:extLst>
              <a:ext uri="{FF2B5EF4-FFF2-40B4-BE49-F238E27FC236}">
                <a16:creationId xmlns:a16="http://schemas.microsoft.com/office/drawing/2014/main" id="{8E5C6F6D-04C2-6E21-5839-DFEDC6EB6EF3}"/>
              </a:ext>
            </a:extLst>
          </p:cNvPr>
          <p:cNvPicPr>
            <a:picLocks noChangeAspect="1"/>
          </p:cNvPicPr>
          <p:nvPr/>
        </p:nvPicPr>
        <p:blipFill>
          <a:blip r:embed="rId3"/>
          <a:stretch>
            <a:fillRect/>
          </a:stretch>
        </p:blipFill>
        <p:spPr>
          <a:xfrm>
            <a:off x="6143135" y="272211"/>
            <a:ext cx="5886037" cy="4429629"/>
          </a:xfrm>
          <a:prstGeom prst="rect">
            <a:avLst/>
          </a:prstGeom>
        </p:spPr>
      </p:pic>
    </p:spTree>
    <p:extLst>
      <p:ext uri="{BB962C8B-B14F-4D97-AF65-F5344CB8AC3E}">
        <p14:creationId xmlns:p14="http://schemas.microsoft.com/office/powerpoint/2010/main" val="4082056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2C3F4-AB5F-7B75-672F-A7007DEF1BBB}"/>
            </a:ext>
          </a:extLst>
        </p:cNvPr>
        <p:cNvGrpSpPr/>
        <p:nvPr/>
      </p:nvGrpSpPr>
      <p:grpSpPr>
        <a:xfrm>
          <a:off x="0" y="0"/>
          <a:ext cx="0" cy="0"/>
          <a:chOff x="0" y="0"/>
          <a:chExt cx="0" cy="0"/>
        </a:xfrm>
      </p:grpSpPr>
      <p:sp>
        <p:nvSpPr>
          <p:cNvPr id="4" name="Text Placeholder 2">
            <a:extLst>
              <a:ext uri="{FF2B5EF4-FFF2-40B4-BE49-F238E27FC236}">
                <a16:creationId xmlns:a16="http://schemas.microsoft.com/office/drawing/2014/main" id="{62849085-CFDC-B236-9355-2AD139DB6221}"/>
              </a:ext>
            </a:extLst>
          </p:cNvPr>
          <p:cNvSpPr txBox="1">
            <a:spLocks/>
          </p:cNvSpPr>
          <p:nvPr/>
        </p:nvSpPr>
        <p:spPr>
          <a:xfrm>
            <a:off x="171254" y="5172634"/>
            <a:ext cx="11715946" cy="1530375"/>
          </a:xfrm>
          <a:prstGeom prst="rect">
            <a:avLst/>
          </a:prstGeom>
          <a:effectLst/>
        </p:spPr>
        <p:txBody>
          <a:bodyPr vert="horz" lIns="91440" tIns="45720" rIns="91440" bIns="45720" rtlCol="0" anchor="t">
            <a:noAutofit/>
          </a:bodyPr>
          <a:lstStyle>
            <a:lvl1pPr marL="0" indent="0" algn="r" defTabSz="457200" rtl="0" eaLnBrk="1" latinLnBrk="0" hangingPunct="1">
              <a:spcBef>
                <a:spcPct val="20000"/>
              </a:spcBef>
              <a:spcAft>
                <a:spcPts val="600"/>
              </a:spcAft>
              <a:buClr>
                <a:schemeClr val="accent1"/>
              </a:buClr>
              <a:buFont typeface="Wingdings 2" charset="2"/>
              <a:buNone/>
              <a:defRPr sz="1800" kern="1200">
                <a:solidFill>
                  <a:schemeClr val="tx1"/>
                </a:solidFill>
                <a:effectLst>
                  <a:outerShdw blurRad="50800" dir="14400000" algn="ctr" rotWithShape="0">
                    <a:schemeClr val="bg1">
                      <a:alpha val="40000"/>
                    </a:schemeClr>
                  </a:outerShdw>
                </a:effectLst>
                <a:latin typeface="+mn-lt"/>
                <a:ea typeface="+mn-ea"/>
                <a:cs typeface="+mn-cs"/>
              </a:defRPr>
            </a:lvl1pPr>
            <a:lvl2pPr marL="457200" indent="0" algn="l" defTabSz="457200" rtl="0" eaLnBrk="1" latinLnBrk="0" hangingPunct="1">
              <a:spcBef>
                <a:spcPct val="20000"/>
              </a:spcBef>
              <a:spcAft>
                <a:spcPts val="600"/>
              </a:spcAft>
              <a:buClr>
                <a:schemeClr val="accent1"/>
              </a:buClr>
              <a:buFont typeface="Wingdings 2" charset="2"/>
              <a:buNone/>
              <a:defRPr sz="18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2pPr>
            <a:lvl3pPr marL="914400" indent="0" algn="l" defTabSz="457200" rtl="0" eaLnBrk="1" latinLnBrk="0" hangingPunct="1">
              <a:spcBef>
                <a:spcPct val="20000"/>
              </a:spcBef>
              <a:spcAft>
                <a:spcPts val="600"/>
              </a:spcAft>
              <a:buClr>
                <a:schemeClr val="accent1"/>
              </a:buClr>
              <a:buFont typeface="Wingdings 2" charset="2"/>
              <a:buNone/>
              <a:defRPr sz="16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3pPr>
            <a:lvl4pPr marL="13716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4pPr>
            <a:lvl5pPr marL="18288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5pPr>
            <a:lvl6pPr marL="22860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6pPr>
            <a:lvl7pPr marL="27432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7pPr>
            <a:lvl8pPr marL="32004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8pPr>
            <a:lvl9pPr marL="36576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9pPr>
          </a:lstStyle>
          <a:p>
            <a:pPr algn="l"/>
            <a:r>
              <a:rPr lang="en-IN" sz="2800" u="sng" dirty="0">
                <a:effectLst/>
                <a:latin typeface="Adobe Garamond Pro" panose="02020502060506020403" pitchFamily="18" charset="0"/>
              </a:rPr>
              <a:t>Ticket Validation and Closure</a:t>
            </a:r>
          </a:p>
          <a:p>
            <a:pPr algn="l"/>
            <a:r>
              <a:rPr lang="en-US" sz="2400" dirty="0">
                <a:effectLst/>
                <a:latin typeface="Adobe Garamond Pro" panose="02020502060506020403" pitchFamily="18" charset="0"/>
              </a:rPr>
              <a:t>The assistant validates the ticket ID format, retrieves the ticket status, then supports conversation closure and feedback collection.</a:t>
            </a:r>
            <a:endParaRPr lang="en-IN" sz="2400" dirty="0">
              <a:effectLst/>
              <a:latin typeface="Adobe Garamond Pro" panose="02020502060506020403" pitchFamily="18" charset="0"/>
            </a:endParaRPr>
          </a:p>
        </p:txBody>
      </p:sp>
      <p:pic>
        <p:nvPicPr>
          <p:cNvPr id="3" name="Picture 2">
            <a:extLst>
              <a:ext uri="{FF2B5EF4-FFF2-40B4-BE49-F238E27FC236}">
                <a16:creationId xmlns:a16="http://schemas.microsoft.com/office/drawing/2014/main" id="{6815B678-5AAC-20A0-B7D2-B8EC71DC0DC2}"/>
              </a:ext>
            </a:extLst>
          </p:cNvPr>
          <p:cNvPicPr>
            <a:picLocks noChangeAspect="1"/>
          </p:cNvPicPr>
          <p:nvPr/>
        </p:nvPicPr>
        <p:blipFill>
          <a:blip r:embed="rId2"/>
          <a:stretch>
            <a:fillRect/>
          </a:stretch>
        </p:blipFill>
        <p:spPr>
          <a:xfrm>
            <a:off x="158098" y="154991"/>
            <a:ext cx="5937902" cy="4274472"/>
          </a:xfrm>
          <a:prstGeom prst="rect">
            <a:avLst/>
          </a:prstGeom>
        </p:spPr>
      </p:pic>
      <p:pic>
        <p:nvPicPr>
          <p:cNvPr id="8" name="Picture 7">
            <a:extLst>
              <a:ext uri="{FF2B5EF4-FFF2-40B4-BE49-F238E27FC236}">
                <a16:creationId xmlns:a16="http://schemas.microsoft.com/office/drawing/2014/main" id="{27CDE2B4-1023-0E9A-531B-42CECFD008FB}"/>
              </a:ext>
            </a:extLst>
          </p:cNvPr>
          <p:cNvPicPr>
            <a:picLocks noChangeAspect="1"/>
          </p:cNvPicPr>
          <p:nvPr/>
        </p:nvPicPr>
        <p:blipFill>
          <a:blip r:embed="rId3"/>
          <a:stretch>
            <a:fillRect/>
          </a:stretch>
        </p:blipFill>
        <p:spPr>
          <a:xfrm>
            <a:off x="6260811" y="154991"/>
            <a:ext cx="5626389" cy="2711589"/>
          </a:xfrm>
          <a:prstGeom prst="rect">
            <a:avLst/>
          </a:prstGeom>
        </p:spPr>
      </p:pic>
      <p:pic>
        <p:nvPicPr>
          <p:cNvPr id="10" name="Picture 9">
            <a:extLst>
              <a:ext uri="{FF2B5EF4-FFF2-40B4-BE49-F238E27FC236}">
                <a16:creationId xmlns:a16="http://schemas.microsoft.com/office/drawing/2014/main" id="{636F4BB7-98A8-5F29-3D90-64C70EE20010}"/>
              </a:ext>
            </a:extLst>
          </p:cNvPr>
          <p:cNvPicPr>
            <a:picLocks noChangeAspect="1"/>
          </p:cNvPicPr>
          <p:nvPr/>
        </p:nvPicPr>
        <p:blipFill>
          <a:blip r:embed="rId4"/>
          <a:stretch>
            <a:fillRect/>
          </a:stretch>
        </p:blipFill>
        <p:spPr>
          <a:xfrm>
            <a:off x="6688739" y="2901881"/>
            <a:ext cx="4770532" cy="2698043"/>
          </a:xfrm>
          <a:prstGeom prst="rect">
            <a:avLst/>
          </a:prstGeom>
        </p:spPr>
      </p:pic>
    </p:spTree>
    <p:extLst>
      <p:ext uri="{BB962C8B-B14F-4D97-AF65-F5344CB8AC3E}">
        <p14:creationId xmlns:p14="http://schemas.microsoft.com/office/powerpoint/2010/main" val="22820554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6D44D-64D5-5867-2288-6EE5F7A01BCF}"/>
              </a:ext>
            </a:extLst>
          </p:cNvPr>
          <p:cNvSpPr>
            <a:spLocks noGrp="1"/>
          </p:cNvSpPr>
          <p:nvPr>
            <p:ph type="title"/>
          </p:nvPr>
        </p:nvSpPr>
        <p:spPr>
          <a:xfrm>
            <a:off x="686699" y="447188"/>
            <a:ext cx="10571998" cy="970450"/>
          </a:xfrm>
        </p:spPr>
        <p:txBody>
          <a:bodyPr/>
          <a:lstStyle/>
          <a:p>
            <a:r>
              <a:rPr lang="en-IN" sz="6000" dirty="0">
                <a:effectLst/>
                <a:latin typeface="Adobe Garamond Pro" panose="02020502060506020403" pitchFamily="18" charset="0"/>
              </a:rPr>
              <a:t>Demonstration - 2</a:t>
            </a:r>
          </a:p>
        </p:txBody>
      </p:sp>
      <p:sp>
        <p:nvSpPr>
          <p:cNvPr id="5" name="Title 3">
            <a:extLst>
              <a:ext uri="{FF2B5EF4-FFF2-40B4-BE49-F238E27FC236}">
                <a16:creationId xmlns:a16="http://schemas.microsoft.com/office/drawing/2014/main" id="{420F3CF6-0005-1776-CAD3-1674EBCF591C}"/>
              </a:ext>
            </a:extLst>
          </p:cNvPr>
          <p:cNvSpPr txBox="1">
            <a:spLocks/>
          </p:cNvSpPr>
          <p:nvPr/>
        </p:nvSpPr>
        <p:spPr>
          <a:xfrm>
            <a:off x="686699" y="2252067"/>
            <a:ext cx="10163553" cy="1754326"/>
          </a:xfrm>
          <a:prstGeom prst="rect">
            <a:avLst/>
          </a:prstGeom>
          <a:noFill/>
          <a:effectLst/>
        </p:spPr>
        <p:txBody>
          <a:bodyPr vert="horz" wrap="square" lIns="91440" tIns="45720" rIns="91440" bIns="45720" rtlCol="0" anchor="b">
            <a:spAutoFit/>
          </a:bodyPr>
          <a:lstStyle>
            <a:lvl1pPr algn="l" defTabSz="457200" rtl="0" eaLnBrk="1" latinLnBrk="0" hangingPunct="1">
              <a:spcBef>
                <a:spcPct val="0"/>
              </a:spcBef>
              <a:buNone/>
              <a:defRPr sz="4000" b="1" kern="1200">
                <a:solidFill>
                  <a:srgbClr val="FEFEFE"/>
                </a:solidFill>
                <a:effectLst>
                  <a:outerShdw blurRad="50800" dir="14400000" algn="ctr" rotWithShape="0">
                    <a:schemeClr val="bg1">
                      <a:alpha val="60000"/>
                    </a:scheme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5400" dirty="0">
                <a:effectLst/>
                <a:latin typeface="Adobe Garamond Pro" panose="02020502060506020403" pitchFamily="18" charset="0"/>
              </a:rPr>
              <a:t>Ticket Status Lookup Using Email and Issue Type</a:t>
            </a:r>
            <a:endParaRPr lang="en-IN" sz="5400" dirty="0">
              <a:effectLst/>
              <a:latin typeface="Adobe Garamond Pro" panose="02020502060506020403" pitchFamily="18" charset="0"/>
            </a:endParaRPr>
          </a:p>
        </p:txBody>
      </p:sp>
      <p:sp>
        <p:nvSpPr>
          <p:cNvPr id="7" name="TextBox 6">
            <a:extLst>
              <a:ext uri="{FF2B5EF4-FFF2-40B4-BE49-F238E27FC236}">
                <a16:creationId xmlns:a16="http://schemas.microsoft.com/office/drawing/2014/main" id="{8C15F572-203D-BB83-B140-2DD94BD516B6}"/>
              </a:ext>
            </a:extLst>
          </p:cNvPr>
          <p:cNvSpPr txBox="1"/>
          <p:nvPr/>
        </p:nvSpPr>
        <p:spPr>
          <a:xfrm>
            <a:off x="686699" y="4164043"/>
            <a:ext cx="10449449" cy="2246769"/>
          </a:xfrm>
          <a:prstGeom prst="rect">
            <a:avLst/>
          </a:prstGeom>
          <a:noFill/>
        </p:spPr>
        <p:txBody>
          <a:bodyPr wrap="square">
            <a:spAutoFit/>
          </a:bodyPr>
          <a:lstStyle/>
          <a:p>
            <a:r>
              <a:rPr lang="en-US" sz="2800" dirty="0"/>
              <a:t>The employee checks a previously submitted support request without using the ticket ID. The assistant validates the official company email, collects the issue type, searches the Excel Online ticket records, and returns the matching ticket status.</a:t>
            </a:r>
            <a:endParaRPr lang="en-IN" sz="2800" dirty="0"/>
          </a:p>
        </p:txBody>
      </p:sp>
    </p:spTree>
    <p:extLst>
      <p:ext uri="{BB962C8B-B14F-4D97-AF65-F5344CB8AC3E}">
        <p14:creationId xmlns:p14="http://schemas.microsoft.com/office/powerpoint/2010/main" val="32038120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02A73-3154-7089-0037-F975288E41FC}"/>
            </a:ext>
          </a:extLst>
        </p:cNvPr>
        <p:cNvGrpSpPr/>
        <p:nvPr/>
      </p:nvGrpSpPr>
      <p:grpSpPr>
        <a:xfrm>
          <a:off x="0" y="0"/>
          <a:ext cx="0" cy="0"/>
          <a:chOff x="0" y="0"/>
          <a:chExt cx="0" cy="0"/>
        </a:xfrm>
      </p:grpSpPr>
      <p:sp>
        <p:nvSpPr>
          <p:cNvPr id="4" name="Text Placeholder 2">
            <a:extLst>
              <a:ext uri="{FF2B5EF4-FFF2-40B4-BE49-F238E27FC236}">
                <a16:creationId xmlns:a16="http://schemas.microsoft.com/office/drawing/2014/main" id="{7A9F93A5-A198-A882-2965-3CFB73536E61}"/>
              </a:ext>
            </a:extLst>
          </p:cNvPr>
          <p:cNvSpPr txBox="1">
            <a:spLocks/>
          </p:cNvSpPr>
          <p:nvPr/>
        </p:nvSpPr>
        <p:spPr>
          <a:xfrm>
            <a:off x="171254" y="5172634"/>
            <a:ext cx="11715946" cy="1530375"/>
          </a:xfrm>
          <a:prstGeom prst="rect">
            <a:avLst/>
          </a:prstGeom>
          <a:effectLst/>
        </p:spPr>
        <p:txBody>
          <a:bodyPr vert="horz" lIns="91440" tIns="45720" rIns="91440" bIns="45720" rtlCol="0" anchor="t">
            <a:noAutofit/>
          </a:bodyPr>
          <a:lstStyle>
            <a:lvl1pPr marL="0" indent="0" algn="r" defTabSz="457200" rtl="0" eaLnBrk="1" latinLnBrk="0" hangingPunct="1">
              <a:spcBef>
                <a:spcPct val="20000"/>
              </a:spcBef>
              <a:spcAft>
                <a:spcPts val="600"/>
              </a:spcAft>
              <a:buClr>
                <a:schemeClr val="accent1"/>
              </a:buClr>
              <a:buFont typeface="Wingdings 2" charset="2"/>
              <a:buNone/>
              <a:defRPr sz="1800" kern="1200">
                <a:solidFill>
                  <a:schemeClr val="tx1"/>
                </a:solidFill>
                <a:effectLst>
                  <a:outerShdw blurRad="50800" dir="14400000" algn="ctr" rotWithShape="0">
                    <a:schemeClr val="bg1">
                      <a:alpha val="40000"/>
                    </a:schemeClr>
                  </a:outerShdw>
                </a:effectLst>
                <a:latin typeface="+mn-lt"/>
                <a:ea typeface="+mn-ea"/>
                <a:cs typeface="+mn-cs"/>
              </a:defRPr>
            </a:lvl1pPr>
            <a:lvl2pPr marL="457200" indent="0" algn="l" defTabSz="457200" rtl="0" eaLnBrk="1" latinLnBrk="0" hangingPunct="1">
              <a:spcBef>
                <a:spcPct val="20000"/>
              </a:spcBef>
              <a:spcAft>
                <a:spcPts val="600"/>
              </a:spcAft>
              <a:buClr>
                <a:schemeClr val="accent1"/>
              </a:buClr>
              <a:buFont typeface="Wingdings 2" charset="2"/>
              <a:buNone/>
              <a:defRPr sz="18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2pPr>
            <a:lvl3pPr marL="914400" indent="0" algn="l" defTabSz="457200" rtl="0" eaLnBrk="1" latinLnBrk="0" hangingPunct="1">
              <a:spcBef>
                <a:spcPct val="20000"/>
              </a:spcBef>
              <a:spcAft>
                <a:spcPts val="600"/>
              </a:spcAft>
              <a:buClr>
                <a:schemeClr val="accent1"/>
              </a:buClr>
              <a:buFont typeface="Wingdings 2" charset="2"/>
              <a:buNone/>
              <a:defRPr sz="16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3pPr>
            <a:lvl4pPr marL="13716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4pPr>
            <a:lvl5pPr marL="18288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5pPr>
            <a:lvl6pPr marL="22860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6pPr>
            <a:lvl7pPr marL="27432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7pPr>
            <a:lvl8pPr marL="32004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8pPr>
            <a:lvl9pPr marL="36576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9pPr>
          </a:lstStyle>
          <a:p>
            <a:pPr algn="l"/>
            <a:r>
              <a:rPr lang="en-IN" sz="2800" u="sng" dirty="0">
                <a:effectLst/>
                <a:latin typeface="Adobe Garamond Pro" panose="02020502060506020403" pitchFamily="18" charset="0"/>
              </a:rPr>
              <a:t>Ticket Status Workflow Initiated</a:t>
            </a:r>
          </a:p>
          <a:p>
            <a:pPr algn="l"/>
            <a:r>
              <a:rPr lang="en-US" sz="2400" dirty="0">
                <a:effectLst/>
                <a:latin typeface="Adobe Garamond Pro" panose="02020502060506020403" pitchFamily="18" charset="0"/>
              </a:rPr>
              <a:t>The employee starts the ticket status lookup workflow and chooses to retrieve ticket information without using the ticket ID.</a:t>
            </a:r>
            <a:endParaRPr lang="en-IN" sz="2400" dirty="0">
              <a:effectLst/>
              <a:latin typeface="Adobe Garamond Pro" panose="02020502060506020403" pitchFamily="18" charset="0"/>
            </a:endParaRPr>
          </a:p>
        </p:txBody>
      </p:sp>
      <p:pic>
        <p:nvPicPr>
          <p:cNvPr id="34" name="Picture 33">
            <a:extLst>
              <a:ext uri="{FF2B5EF4-FFF2-40B4-BE49-F238E27FC236}">
                <a16:creationId xmlns:a16="http://schemas.microsoft.com/office/drawing/2014/main" id="{A449FAE9-9245-7AA4-1948-8987192386C3}"/>
              </a:ext>
            </a:extLst>
          </p:cNvPr>
          <p:cNvPicPr>
            <a:picLocks noChangeAspect="1"/>
          </p:cNvPicPr>
          <p:nvPr/>
        </p:nvPicPr>
        <p:blipFill>
          <a:blip r:embed="rId2"/>
          <a:stretch>
            <a:fillRect/>
          </a:stretch>
        </p:blipFill>
        <p:spPr>
          <a:xfrm>
            <a:off x="247966" y="154991"/>
            <a:ext cx="5512083" cy="4643252"/>
          </a:xfrm>
          <a:prstGeom prst="rect">
            <a:avLst/>
          </a:prstGeom>
        </p:spPr>
      </p:pic>
      <p:pic>
        <p:nvPicPr>
          <p:cNvPr id="36" name="Picture 35">
            <a:extLst>
              <a:ext uri="{FF2B5EF4-FFF2-40B4-BE49-F238E27FC236}">
                <a16:creationId xmlns:a16="http://schemas.microsoft.com/office/drawing/2014/main" id="{1A80C296-2A7B-ABD7-C578-D293B7702E97}"/>
              </a:ext>
            </a:extLst>
          </p:cNvPr>
          <p:cNvPicPr>
            <a:picLocks noChangeAspect="1"/>
          </p:cNvPicPr>
          <p:nvPr/>
        </p:nvPicPr>
        <p:blipFill>
          <a:blip r:embed="rId3"/>
          <a:stretch>
            <a:fillRect/>
          </a:stretch>
        </p:blipFill>
        <p:spPr>
          <a:xfrm>
            <a:off x="5959820" y="154991"/>
            <a:ext cx="5861392" cy="2184791"/>
          </a:xfrm>
          <a:prstGeom prst="rect">
            <a:avLst/>
          </a:prstGeom>
        </p:spPr>
      </p:pic>
      <p:pic>
        <p:nvPicPr>
          <p:cNvPr id="38" name="Picture 37">
            <a:extLst>
              <a:ext uri="{FF2B5EF4-FFF2-40B4-BE49-F238E27FC236}">
                <a16:creationId xmlns:a16="http://schemas.microsoft.com/office/drawing/2014/main" id="{1346D3D1-8D6D-8614-7BE8-4510EDB2EAC2}"/>
              </a:ext>
            </a:extLst>
          </p:cNvPr>
          <p:cNvPicPr>
            <a:picLocks noChangeAspect="1"/>
          </p:cNvPicPr>
          <p:nvPr/>
        </p:nvPicPr>
        <p:blipFill>
          <a:blip r:embed="rId4"/>
          <a:stretch>
            <a:fillRect/>
          </a:stretch>
        </p:blipFill>
        <p:spPr>
          <a:xfrm>
            <a:off x="5959820" y="2460396"/>
            <a:ext cx="5861392" cy="2337847"/>
          </a:xfrm>
          <a:prstGeom prst="rect">
            <a:avLst/>
          </a:prstGeom>
        </p:spPr>
      </p:pic>
    </p:spTree>
    <p:extLst>
      <p:ext uri="{BB962C8B-B14F-4D97-AF65-F5344CB8AC3E}">
        <p14:creationId xmlns:p14="http://schemas.microsoft.com/office/powerpoint/2010/main" val="33024903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3BC33-D164-D55B-E5C7-2E5730E2FB11}"/>
            </a:ext>
          </a:extLst>
        </p:cNvPr>
        <p:cNvGrpSpPr/>
        <p:nvPr/>
      </p:nvGrpSpPr>
      <p:grpSpPr>
        <a:xfrm>
          <a:off x="0" y="0"/>
          <a:ext cx="0" cy="0"/>
          <a:chOff x="0" y="0"/>
          <a:chExt cx="0" cy="0"/>
        </a:xfrm>
      </p:grpSpPr>
      <p:sp>
        <p:nvSpPr>
          <p:cNvPr id="4" name="Text Placeholder 2">
            <a:extLst>
              <a:ext uri="{FF2B5EF4-FFF2-40B4-BE49-F238E27FC236}">
                <a16:creationId xmlns:a16="http://schemas.microsoft.com/office/drawing/2014/main" id="{4EC87BBC-6CDA-936C-9F51-60C96746115B}"/>
              </a:ext>
            </a:extLst>
          </p:cNvPr>
          <p:cNvSpPr txBox="1">
            <a:spLocks/>
          </p:cNvSpPr>
          <p:nvPr/>
        </p:nvSpPr>
        <p:spPr>
          <a:xfrm>
            <a:off x="171254" y="5172634"/>
            <a:ext cx="11715946" cy="1530375"/>
          </a:xfrm>
          <a:prstGeom prst="rect">
            <a:avLst/>
          </a:prstGeom>
          <a:effectLst/>
        </p:spPr>
        <p:txBody>
          <a:bodyPr vert="horz" lIns="91440" tIns="45720" rIns="91440" bIns="45720" rtlCol="0" anchor="t">
            <a:noAutofit/>
          </a:bodyPr>
          <a:lstStyle>
            <a:lvl1pPr marL="0" indent="0" algn="r" defTabSz="457200" rtl="0" eaLnBrk="1" latinLnBrk="0" hangingPunct="1">
              <a:spcBef>
                <a:spcPct val="20000"/>
              </a:spcBef>
              <a:spcAft>
                <a:spcPts val="600"/>
              </a:spcAft>
              <a:buClr>
                <a:schemeClr val="accent1"/>
              </a:buClr>
              <a:buFont typeface="Wingdings 2" charset="2"/>
              <a:buNone/>
              <a:defRPr sz="1800" kern="1200">
                <a:solidFill>
                  <a:schemeClr val="tx1"/>
                </a:solidFill>
                <a:effectLst>
                  <a:outerShdw blurRad="50800" dir="14400000" algn="ctr" rotWithShape="0">
                    <a:schemeClr val="bg1">
                      <a:alpha val="40000"/>
                    </a:schemeClr>
                  </a:outerShdw>
                </a:effectLst>
                <a:latin typeface="+mn-lt"/>
                <a:ea typeface="+mn-ea"/>
                <a:cs typeface="+mn-cs"/>
              </a:defRPr>
            </a:lvl1pPr>
            <a:lvl2pPr marL="457200" indent="0" algn="l" defTabSz="457200" rtl="0" eaLnBrk="1" latinLnBrk="0" hangingPunct="1">
              <a:spcBef>
                <a:spcPct val="20000"/>
              </a:spcBef>
              <a:spcAft>
                <a:spcPts val="600"/>
              </a:spcAft>
              <a:buClr>
                <a:schemeClr val="accent1"/>
              </a:buClr>
              <a:buFont typeface="Wingdings 2" charset="2"/>
              <a:buNone/>
              <a:defRPr sz="18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2pPr>
            <a:lvl3pPr marL="914400" indent="0" algn="l" defTabSz="457200" rtl="0" eaLnBrk="1" latinLnBrk="0" hangingPunct="1">
              <a:spcBef>
                <a:spcPct val="20000"/>
              </a:spcBef>
              <a:spcAft>
                <a:spcPts val="600"/>
              </a:spcAft>
              <a:buClr>
                <a:schemeClr val="accent1"/>
              </a:buClr>
              <a:buFont typeface="Wingdings 2" charset="2"/>
              <a:buNone/>
              <a:defRPr sz="16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3pPr>
            <a:lvl4pPr marL="13716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4pPr>
            <a:lvl5pPr marL="18288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5pPr>
            <a:lvl6pPr marL="22860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6pPr>
            <a:lvl7pPr marL="27432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7pPr>
            <a:lvl8pPr marL="32004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8pPr>
            <a:lvl9pPr marL="36576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9pPr>
          </a:lstStyle>
          <a:p>
            <a:pPr algn="l"/>
            <a:r>
              <a:rPr lang="en-US" sz="2800" u="sng" dirty="0">
                <a:effectLst/>
                <a:latin typeface="Adobe Garamond Pro" panose="02020502060506020403" pitchFamily="18" charset="0"/>
              </a:rPr>
              <a:t>Email Validation and No Match Found</a:t>
            </a:r>
          </a:p>
          <a:p>
            <a:pPr algn="l"/>
            <a:r>
              <a:rPr lang="en-US" sz="2400" dirty="0">
                <a:effectLst/>
                <a:latin typeface="Adobe Garamond Pro" panose="02020502060506020403" pitchFamily="18" charset="0"/>
              </a:rPr>
              <a:t>The assistant validates the official company email, collects the issue type and searches the Excel Online ticket records, but no matching support request is found using the provided details.</a:t>
            </a:r>
            <a:endParaRPr lang="en-IN" sz="2400" dirty="0">
              <a:effectLst/>
              <a:latin typeface="Adobe Garamond Pro" panose="02020502060506020403" pitchFamily="18" charset="0"/>
            </a:endParaRPr>
          </a:p>
        </p:txBody>
      </p:sp>
      <p:pic>
        <p:nvPicPr>
          <p:cNvPr id="3" name="Picture 2">
            <a:extLst>
              <a:ext uri="{FF2B5EF4-FFF2-40B4-BE49-F238E27FC236}">
                <a16:creationId xmlns:a16="http://schemas.microsoft.com/office/drawing/2014/main" id="{2F44CD45-5BCF-8BA8-C060-CBC89412938A}"/>
              </a:ext>
            </a:extLst>
          </p:cNvPr>
          <p:cNvPicPr>
            <a:picLocks noChangeAspect="1"/>
          </p:cNvPicPr>
          <p:nvPr/>
        </p:nvPicPr>
        <p:blipFill>
          <a:blip r:embed="rId2"/>
          <a:stretch>
            <a:fillRect/>
          </a:stretch>
        </p:blipFill>
        <p:spPr>
          <a:xfrm>
            <a:off x="95839" y="296393"/>
            <a:ext cx="5784587" cy="3342353"/>
          </a:xfrm>
          <a:prstGeom prst="rect">
            <a:avLst/>
          </a:prstGeom>
        </p:spPr>
      </p:pic>
      <p:pic>
        <p:nvPicPr>
          <p:cNvPr id="6" name="Picture 5">
            <a:extLst>
              <a:ext uri="{FF2B5EF4-FFF2-40B4-BE49-F238E27FC236}">
                <a16:creationId xmlns:a16="http://schemas.microsoft.com/office/drawing/2014/main" id="{FA7BCC39-C199-7A60-F6FD-F8271F45239B}"/>
              </a:ext>
            </a:extLst>
          </p:cNvPr>
          <p:cNvPicPr>
            <a:picLocks noChangeAspect="1"/>
          </p:cNvPicPr>
          <p:nvPr/>
        </p:nvPicPr>
        <p:blipFill>
          <a:blip r:embed="rId3"/>
          <a:stretch>
            <a:fillRect/>
          </a:stretch>
        </p:blipFill>
        <p:spPr>
          <a:xfrm>
            <a:off x="5950503" y="296392"/>
            <a:ext cx="6197426" cy="3342353"/>
          </a:xfrm>
          <a:prstGeom prst="rect">
            <a:avLst/>
          </a:prstGeom>
        </p:spPr>
      </p:pic>
    </p:spTree>
    <p:extLst>
      <p:ext uri="{BB962C8B-B14F-4D97-AF65-F5344CB8AC3E}">
        <p14:creationId xmlns:p14="http://schemas.microsoft.com/office/powerpoint/2010/main" val="14820831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F5A2E-0CDC-7DEC-D327-AE72528AFB38}"/>
            </a:ext>
          </a:extLst>
        </p:cNvPr>
        <p:cNvGrpSpPr/>
        <p:nvPr/>
      </p:nvGrpSpPr>
      <p:grpSpPr>
        <a:xfrm>
          <a:off x="0" y="0"/>
          <a:ext cx="0" cy="0"/>
          <a:chOff x="0" y="0"/>
          <a:chExt cx="0" cy="0"/>
        </a:xfrm>
      </p:grpSpPr>
      <p:sp>
        <p:nvSpPr>
          <p:cNvPr id="4" name="Text Placeholder 2">
            <a:extLst>
              <a:ext uri="{FF2B5EF4-FFF2-40B4-BE49-F238E27FC236}">
                <a16:creationId xmlns:a16="http://schemas.microsoft.com/office/drawing/2014/main" id="{AA99DC85-7201-F945-07C5-FC2287F48836}"/>
              </a:ext>
            </a:extLst>
          </p:cNvPr>
          <p:cNvSpPr txBox="1">
            <a:spLocks/>
          </p:cNvSpPr>
          <p:nvPr/>
        </p:nvSpPr>
        <p:spPr>
          <a:xfrm>
            <a:off x="171254" y="5041217"/>
            <a:ext cx="11715946" cy="1530375"/>
          </a:xfrm>
          <a:prstGeom prst="rect">
            <a:avLst/>
          </a:prstGeom>
          <a:effectLst/>
        </p:spPr>
        <p:txBody>
          <a:bodyPr vert="horz" lIns="91440" tIns="45720" rIns="91440" bIns="45720" rtlCol="0" anchor="t">
            <a:noAutofit/>
          </a:bodyPr>
          <a:lstStyle>
            <a:lvl1pPr marL="0" indent="0" algn="r" defTabSz="457200" rtl="0" eaLnBrk="1" latinLnBrk="0" hangingPunct="1">
              <a:spcBef>
                <a:spcPct val="20000"/>
              </a:spcBef>
              <a:spcAft>
                <a:spcPts val="600"/>
              </a:spcAft>
              <a:buClr>
                <a:schemeClr val="accent1"/>
              </a:buClr>
              <a:buFont typeface="Wingdings 2" charset="2"/>
              <a:buNone/>
              <a:defRPr sz="1800" kern="1200">
                <a:solidFill>
                  <a:schemeClr val="tx1"/>
                </a:solidFill>
                <a:effectLst>
                  <a:outerShdw blurRad="50800" dir="14400000" algn="ctr" rotWithShape="0">
                    <a:schemeClr val="bg1">
                      <a:alpha val="40000"/>
                    </a:schemeClr>
                  </a:outerShdw>
                </a:effectLst>
                <a:latin typeface="+mn-lt"/>
                <a:ea typeface="+mn-ea"/>
                <a:cs typeface="+mn-cs"/>
              </a:defRPr>
            </a:lvl1pPr>
            <a:lvl2pPr marL="457200" indent="0" algn="l" defTabSz="457200" rtl="0" eaLnBrk="1" latinLnBrk="0" hangingPunct="1">
              <a:spcBef>
                <a:spcPct val="20000"/>
              </a:spcBef>
              <a:spcAft>
                <a:spcPts val="600"/>
              </a:spcAft>
              <a:buClr>
                <a:schemeClr val="accent1"/>
              </a:buClr>
              <a:buFont typeface="Wingdings 2" charset="2"/>
              <a:buNone/>
              <a:defRPr sz="18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2pPr>
            <a:lvl3pPr marL="914400" indent="0" algn="l" defTabSz="457200" rtl="0" eaLnBrk="1" latinLnBrk="0" hangingPunct="1">
              <a:spcBef>
                <a:spcPct val="20000"/>
              </a:spcBef>
              <a:spcAft>
                <a:spcPts val="600"/>
              </a:spcAft>
              <a:buClr>
                <a:schemeClr val="accent1"/>
              </a:buClr>
              <a:buFont typeface="Wingdings 2" charset="2"/>
              <a:buNone/>
              <a:defRPr sz="16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3pPr>
            <a:lvl4pPr marL="13716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4pPr>
            <a:lvl5pPr marL="18288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5pPr>
            <a:lvl6pPr marL="22860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6pPr>
            <a:lvl7pPr marL="27432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7pPr>
            <a:lvl8pPr marL="32004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8pPr>
            <a:lvl9pPr marL="36576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9pPr>
          </a:lstStyle>
          <a:p>
            <a:pPr algn="l"/>
            <a:r>
              <a:rPr lang="en-IN" sz="2800" u="sng" dirty="0">
                <a:effectLst/>
                <a:latin typeface="Adobe Garamond Pro" panose="02020502060506020403" pitchFamily="18" charset="0"/>
              </a:rPr>
              <a:t>Matching Ticket Retrieved Successfully after </a:t>
            </a:r>
            <a:r>
              <a:rPr lang="en-US" sz="2800" u="sng" dirty="0">
                <a:effectLst/>
                <a:latin typeface="Adobe Garamond Pro" panose="02020502060506020403" pitchFamily="18" charset="0"/>
              </a:rPr>
              <a:t>Retry with Correct Issue Type </a:t>
            </a:r>
          </a:p>
          <a:p>
            <a:pPr algn="l"/>
            <a:r>
              <a:rPr lang="en-US" sz="2400" dirty="0">
                <a:effectLst/>
                <a:latin typeface="Adobe Garamond Pro" panose="02020502060506020403" pitchFamily="18" charset="0"/>
              </a:rPr>
              <a:t>The employee retries the lookup workflow with corrected support request details so the assistant can perform another ticket search. The assistant successfully identifies the matching support request and returns the current ticket status information to the employee.</a:t>
            </a:r>
            <a:endParaRPr lang="en-IN" sz="2400" dirty="0">
              <a:effectLst/>
              <a:latin typeface="Adobe Garamond Pro" panose="02020502060506020403" pitchFamily="18" charset="0"/>
            </a:endParaRPr>
          </a:p>
        </p:txBody>
      </p:sp>
      <p:pic>
        <p:nvPicPr>
          <p:cNvPr id="5" name="Picture 4">
            <a:extLst>
              <a:ext uri="{FF2B5EF4-FFF2-40B4-BE49-F238E27FC236}">
                <a16:creationId xmlns:a16="http://schemas.microsoft.com/office/drawing/2014/main" id="{A7F07FF1-FAF6-BF17-4C1F-C42ABB812238}"/>
              </a:ext>
            </a:extLst>
          </p:cNvPr>
          <p:cNvPicPr>
            <a:picLocks noChangeAspect="1"/>
          </p:cNvPicPr>
          <p:nvPr/>
        </p:nvPicPr>
        <p:blipFill>
          <a:blip r:embed="rId2"/>
          <a:stretch>
            <a:fillRect/>
          </a:stretch>
        </p:blipFill>
        <p:spPr>
          <a:xfrm>
            <a:off x="171254" y="286407"/>
            <a:ext cx="5944221" cy="3965081"/>
          </a:xfrm>
          <a:prstGeom prst="rect">
            <a:avLst/>
          </a:prstGeom>
        </p:spPr>
      </p:pic>
      <p:pic>
        <p:nvPicPr>
          <p:cNvPr id="8" name="Picture 7">
            <a:extLst>
              <a:ext uri="{FF2B5EF4-FFF2-40B4-BE49-F238E27FC236}">
                <a16:creationId xmlns:a16="http://schemas.microsoft.com/office/drawing/2014/main" id="{600DDAB5-B21C-DA84-63FE-5A8951C4C14E}"/>
              </a:ext>
            </a:extLst>
          </p:cNvPr>
          <p:cNvPicPr>
            <a:picLocks noChangeAspect="1"/>
          </p:cNvPicPr>
          <p:nvPr/>
        </p:nvPicPr>
        <p:blipFill>
          <a:blip r:embed="rId3"/>
          <a:stretch>
            <a:fillRect/>
          </a:stretch>
        </p:blipFill>
        <p:spPr>
          <a:xfrm>
            <a:off x="6204249" y="286408"/>
            <a:ext cx="5816326" cy="3965080"/>
          </a:xfrm>
          <a:prstGeom prst="rect">
            <a:avLst/>
          </a:prstGeom>
        </p:spPr>
      </p:pic>
    </p:spTree>
    <p:extLst>
      <p:ext uri="{BB962C8B-B14F-4D97-AF65-F5344CB8AC3E}">
        <p14:creationId xmlns:p14="http://schemas.microsoft.com/office/powerpoint/2010/main" val="32944243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6F226-94D6-8B85-19DB-1B74D6DDE6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C8A606-3DA4-AEB1-5C62-083BF3A65470}"/>
              </a:ext>
            </a:extLst>
          </p:cNvPr>
          <p:cNvSpPr>
            <a:spLocks noGrp="1"/>
          </p:cNvSpPr>
          <p:nvPr>
            <p:ph type="title"/>
          </p:nvPr>
        </p:nvSpPr>
        <p:spPr/>
        <p:txBody>
          <a:bodyPr/>
          <a:lstStyle/>
          <a:p>
            <a:r>
              <a:rPr lang="en-IN" sz="6000" dirty="0">
                <a:effectLst/>
                <a:latin typeface="Adobe Garamond Pro" panose="02020502060506020403" pitchFamily="18" charset="0"/>
              </a:rPr>
              <a:t>Demonstration - 3</a:t>
            </a:r>
          </a:p>
        </p:txBody>
      </p:sp>
      <p:sp>
        <p:nvSpPr>
          <p:cNvPr id="5" name="Title 3">
            <a:extLst>
              <a:ext uri="{FF2B5EF4-FFF2-40B4-BE49-F238E27FC236}">
                <a16:creationId xmlns:a16="http://schemas.microsoft.com/office/drawing/2014/main" id="{994DB34D-1CED-DD29-E341-ACFAF4C44A3D}"/>
              </a:ext>
            </a:extLst>
          </p:cNvPr>
          <p:cNvSpPr txBox="1">
            <a:spLocks/>
          </p:cNvSpPr>
          <p:nvPr/>
        </p:nvSpPr>
        <p:spPr>
          <a:xfrm>
            <a:off x="686699" y="2365190"/>
            <a:ext cx="10163553" cy="1754326"/>
          </a:xfrm>
          <a:prstGeom prst="rect">
            <a:avLst/>
          </a:prstGeom>
          <a:noFill/>
          <a:effectLst/>
        </p:spPr>
        <p:txBody>
          <a:bodyPr vert="horz" wrap="square" lIns="91440" tIns="45720" rIns="91440" bIns="45720" rtlCol="0" anchor="b">
            <a:spAutoFit/>
          </a:bodyPr>
          <a:lstStyle>
            <a:lvl1pPr algn="l" defTabSz="457200" rtl="0" eaLnBrk="1" latinLnBrk="0" hangingPunct="1">
              <a:spcBef>
                <a:spcPct val="0"/>
              </a:spcBef>
              <a:buNone/>
              <a:defRPr sz="4000" b="1" kern="1200">
                <a:solidFill>
                  <a:srgbClr val="FEFEFE"/>
                </a:solidFill>
                <a:effectLst>
                  <a:outerShdw blurRad="50800" dir="14400000" algn="ctr" rotWithShape="0">
                    <a:schemeClr val="bg1">
                      <a:alpha val="60000"/>
                    </a:scheme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5400" dirty="0">
                <a:effectLst/>
                <a:latin typeface="Adobe Garamond Pro" panose="02020502060506020403" pitchFamily="18" charset="0"/>
              </a:rPr>
              <a:t>IT Support Escalation and Human Callback Workflow</a:t>
            </a:r>
            <a:endParaRPr lang="en-IN" sz="5400" dirty="0">
              <a:effectLst/>
              <a:latin typeface="Adobe Garamond Pro" panose="02020502060506020403" pitchFamily="18" charset="0"/>
            </a:endParaRPr>
          </a:p>
        </p:txBody>
      </p:sp>
      <p:sp>
        <p:nvSpPr>
          <p:cNvPr id="7" name="TextBox 6">
            <a:extLst>
              <a:ext uri="{FF2B5EF4-FFF2-40B4-BE49-F238E27FC236}">
                <a16:creationId xmlns:a16="http://schemas.microsoft.com/office/drawing/2014/main" id="{D01A0E39-5A95-5862-A84C-AC4B5E2184E1}"/>
              </a:ext>
            </a:extLst>
          </p:cNvPr>
          <p:cNvSpPr txBox="1"/>
          <p:nvPr/>
        </p:nvSpPr>
        <p:spPr>
          <a:xfrm>
            <a:off x="686699" y="4285822"/>
            <a:ext cx="10449449" cy="2246769"/>
          </a:xfrm>
          <a:prstGeom prst="rect">
            <a:avLst/>
          </a:prstGeom>
          <a:noFill/>
        </p:spPr>
        <p:txBody>
          <a:bodyPr wrap="square">
            <a:spAutoFit/>
          </a:bodyPr>
          <a:lstStyle/>
          <a:p>
            <a:r>
              <a:rPr lang="en-IN" sz="2800" dirty="0"/>
              <a:t>The employee requests help after being locked out of their company account. The assistant provides a grounded IT policy response, then offers urgent escalation and callback support through Power Automate and Outlook V2 email workflows.</a:t>
            </a:r>
          </a:p>
        </p:txBody>
      </p:sp>
    </p:spTree>
    <p:extLst>
      <p:ext uri="{BB962C8B-B14F-4D97-AF65-F5344CB8AC3E}">
        <p14:creationId xmlns:p14="http://schemas.microsoft.com/office/powerpoint/2010/main" val="35584828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EE856-5BA2-D289-011A-4659B0B420C1}"/>
            </a:ext>
          </a:extLst>
        </p:cNvPr>
        <p:cNvGrpSpPr/>
        <p:nvPr/>
      </p:nvGrpSpPr>
      <p:grpSpPr>
        <a:xfrm>
          <a:off x="0" y="0"/>
          <a:ext cx="0" cy="0"/>
          <a:chOff x="0" y="0"/>
          <a:chExt cx="0" cy="0"/>
        </a:xfrm>
      </p:grpSpPr>
      <p:sp>
        <p:nvSpPr>
          <p:cNvPr id="4" name="Text Placeholder 2">
            <a:extLst>
              <a:ext uri="{FF2B5EF4-FFF2-40B4-BE49-F238E27FC236}">
                <a16:creationId xmlns:a16="http://schemas.microsoft.com/office/drawing/2014/main" id="{CBB3671B-9F65-EC9F-EE7E-BEF3BB8B8743}"/>
              </a:ext>
            </a:extLst>
          </p:cNvPr>
          <p:cNvSpPr txBox="1">
            <a:spLocks/>
          </p:cNvSpPr>
          <p:nvPr/>
        </p:nvSpPr>
        <p:spPr>
          <a:xfrm>
            <a:off x="171254" y="5172634"/>
            <a:ext cx="11715946" cy="1530375"/>
          </a:xfrm>
          <a:prstGeom prst="rect">
            <a:avLst/>
          </a:prstGeom>
          <a:effectLst/>
        </p:spPr>
        <p:txBody>
          <a:bodyPr vert="horz" lIns="91440" tIns="45720" rIns="91440" bIns="45720" rtlCol="0" anchor="t">
            <a:noAutofit/>
          </a:bodyPr>
          <a:lstStyle>
            <a:lvl1pPr marL="0" indent="0" algn="r" defTabSz="457200" rtl="0" eaLnBrk="1" latinLnBrk="0" hangingPunct="1">
              <a:spcBef>
                <a:spcPct val="20000"/>
              </a:spcBef>
              <a:spcAft>
                <a:spcPts val="600"/>
              </a:spcAft>
              <a:buClr>
                <a:schemeClr val="accent1"/>
              </a:buClr>
              <a:buFont typeface="Wingdings 2" charset="2"/>
              <a:buNone/>
              <a:defRPr sz="1800" kern="1200">
                <a:solidFill>
                  <a:schemeClr val="tx1"/>
                </a:solidFill>
                <a:effectLst>
                  <a:outerShdw blurRad="50800" dir="14400000" algn="ctr" rotWithShape="0">
                    <a:schemeClr val="bg1">
                      <a:alpha val="40000"/>
                    </a:schemeClr>
                  </a:outerShdw>
                </a:effectLst>
                <a:latin typeface="+mn-lt"/>
                <a:ea typeface="+mn-ea"/>
                <a:cs typeface="+mn-cs"/>
              </a:defRPr>
            </a:lvl1pPr>
            <a:lvl2pPr marL="457200" indent="0" algn="l" defTabSz="457200" rtl="0" eaLnBrk="1" latinLnBrk="0" hangingPunct="1">
              <a:spcBef>
                <a:spcPct val="20000"/>
              </a:spcBef>
              <a:spcAft>
                <a:spcPts val="600"/>
              </a:spcAft>
              <a:buClr>
                <a:schemeClr val="accent1"/>
              </a:buClr>
              <a:buFont typeface="Wingdings 2" charset="2"/>
              <a:buNone/>
              <a:defRPr sz="18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2pPr>
            <a:lvl3pPr marL="914400" indent="0" algn="l" defTabSz="457200" rtl="0" eaLnBrk="1" latinLnBrk="0" hangingPunct="1">
              <a:spcBef>
                <a:spcPct val="20000"/>
              </a:spcBef>
              <a:spcAft>
                <a:spcPts val="600"/>
              </a:spcAft>
              <a:buClr>
                <a:schemeClr val="accent1"/>
              </a:buClr>
              <a:buFont typeface="Wingdings 2" charset="2"/>
              <a:buNone/>
              <a:defRPr sz="16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3pPr>
            <a:lvl4pPr marL="13716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4pPr>
            <a:lvl5pPr marL="18288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5pPr>
            <a:lvl6pPr marL="22860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6pPr>
            <a:lvl7pPr marL="27432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7pPr>
            <a:lvl8pPr marL="32004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8pPr>
            <a:lvl9pPr marL="36576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9pPr>
          </a:lstStyle>
          <a:p>
            <a:pPr algn="l"/>
            <a:r>
              <a:rPr lang="en-IN" sz="2800" u="sng" dirty="0">
                <a:effectLst/>
                <a:latin typeface="Adobe Garamond Pro" panose="02020502060506020403" pitchFamily="18" charset="0"/>
              </a:rPr>
              <a:t>Policy Question Flow (Question Selection)</a:t>
            </a:r>
          </a:p>
          <a:p>
            <a:pPr algn="l"/>
            <a:r>
              <a:rPr lang="en-US" sz="2400" dirty="0">
                <a:effectLst/>
                <a:latin typeface="Adobe Garamond Pro" panose="02020502060506020403" pitchFamily="18" charset="0"/>
              </a:rPr>
              <a:t>The employee selects an internal policy support category and submits a knowledge-based IT support question through the conversational interface.</a:t>
            </a:r>
            <a:endParaRPr lang="en-IN" sz="2400" dirty="0">
              <a:effectLst/>
              <a:latin typeface="Adobe Garamond Pro" panose="02020502060506020403" pitchFamily="18" charset="0"/>
            </a:endParaRPr>
          </a:p>
        </p:txBody>
      </p:sp>
      <p:pic>
        <p:nvPicPr>
          <p:cNvPr id="14" name="Picture 13">
            <a:extLst>
              <a:ext uri="{FF2B5EF4-FFF2-40B4-BE49-F238E27FC236}">
                <a16:creationId xmlns:a16="http://schemas.microsoft.com/office/drawing/2014/main" id="{F9D8AE6D-BE00-890C-C025-2295CACA441F}"/>
              </a:ext>
            </a:extLst>
          </p:cNvPr>
          <p:cNvPicPr>
            <a:picLocks noChangeAspect="1"/>
          </p:cNvPicPr>
          <p:nvPr/>
        </p:nvPicPr>
        <p:blipFill>
          <a:blip r:embed="rId2"/>
          <a:stretch>
            <a:fillRect/>
          </a:stretch>
        </p:blipFill>
        <p:spPr>
          <a:xfrm>
            <a:off x="171254" y="154991"/>
            <a:ext cx="5924746" cy="4068217"/>
          </a:xfrm>
          <a:prstGeom prst="rect">
            <a:avLst/>
          </a:prstGeom>
        </p:spPr>
      </p:pic>
      <p:pic>
        <p:nvPicPr>
          <p:cNvPr id="16" name="Picture 15">
            <a:extLst>
              <a:ext uri="{FF2B5EF4-FFF2-40B4-BE49-F238E27FC236}">
                <a16:creationId xmlns:a16="http://schemas.microsoft.com/office/drawing/2014/main" id="{F87A21D2-62A3-DAD3-A205-E662920C4802}"/>
              </a:ext>
            </a:extLst>
          </p:cNvPr>
          <p:cNvPicPr>
            <a:picLocks noChangeAspect="1"/>
          </p:cNvPicPr>
          <p:nvPr/>
        </p:nvPicPr>
        <p:blipFill>
          <a:blip r:embed="rId3"/>
          <a:stretch>
            <a:fillRect/>
          </a:stretch>
        </p:blipFill>
        <p:spPr>
          <a:xfrm>
            <a:off x="6212265" y="668418"/>
            <a:ext cx="5808481" cy="2636417"/>
          </a:xfrm>
          <a:prstGeom prst="rect">
            <a:avLst/>
          </a:prstGeom>
        </p:spPr>
      </p:pic>
    </p:spTree>
    <p:extLst>
      <p:ext uri="{BB962C8B-B14F-4D97-AF65-F5344CB8AC3E}">
        <p14:creationId xmlns:p14="http://schemas.microsoft.com/office/powerpoint/2010/main" val="10736568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7BA37-2A12-A48E-610C-8AD862C736E7}"/>
            </a:ext>
          </a:extLst>
        </p:cNvPr>
        <p:cNvGrpSpPr/>
        <p:nvPr/>
      </p:nvGrpSpPr>
      <p:grpSpPr>
        <a:xfrm>
          <a:off x="0" y="0"/>
          <a:ext cx="0" cy="0"/>
          <a:chOff x="0" y="0"/>
          <a:chExt cx="0" cy="0"/>
        </a:xfrm>
      </p:grpSpPr>
      <p:sp>
        <p:nvSpPr>
          <p:cNvPr id="4" name="Text Placeholder 2">
            <a:extLst>
              <a:ext uri="{FF2B5EF4-FFF2-40B4-BE49-F238E27FC236}">
                <a16:creationId xmlns:a16="http://schemas.microsoft.com/office/drawing/2014/main" id="{89BA4E06-9058-BF6D-D2E8-4A873DBA60AE}"/>
              </a:ext>
            </a:extLst>
          </p:cNvPr>
          <p:cNvSpPr txBox="1">
            <a:spLocks/>
          </p:cNvSpPr>
          <p:nvPr/>
        </p:nvSpPr>
        <p:spPr>
          <a:xfrm>
            <a:off x="171254" y="5134927"/>
            <a:ext cx="11715946" cy="1147879"/>
          </a:xfrm>
          <a:prstGeom prst="rect">
            <a:avLst/>
          </a:prstGeom>
          <a:effectLst/>
        </p:spPr>
        <p:txBody>
          <a:bodyPr vert="horz" lIns="91440" tIns="45720" rIns="91440" bIns="45720" rtlCol="0" anchor="t">
            <a:noAutofit/>
          </a:bodyPr>
          <a:lstStyle>
            <a:lvl1pPr marL="0" indent="0" algn="r" defTabSz="457200" rtl="0" eaLnBrk="1" latinLnBrk="0" hangingPunct="1">
              <a:spcBef>
                <a:spcPct val="20000"/>
              </a:spcBef>
              <a:spcAft>
                <a:spcPts val="600"/>
              </a:spcAft>
              <a:buClr>
                <a:schemeClr val="accent1"/>
              </a:buClr>
              <a:buFont typeface="Wingdings 2" charset="2"/>
              <a:buNone/>
              <a:defRPr sz="1800" kern="1200">
                <a:solidFill>
                  <a:schemeClr val="tx1"/>
                </a:solidFill>
                <a:effectLst>
                  <a:outerShdw blurRad="50800" dir="14400000" algn="ctr" rotWithShape="0">
                    <a:schemeClr val="bg1">
                      <a:alpha val="40000"/>
                    </a:schemeClr>
                  </a:outerShdw>
                </a:effectLst>
                <a:latin typeface="+mn-lt"/>
                <a:ea typeface="+mn-ea"/>
                <a:cs typeface="+mn-cs"/>
              </a:defRPr>
            </a:lvl1pPr>
            <a:lvl2pPr marL="457200" indent="0" algn="l" defTabSz="457200" rtl="0" eaLnBrk="1" latinLnBrk="0" hangingPunct="1">
              <a:spcBef>
                <a:spcPct val="20000"/>
              </a:spcBef>
              <a:spcAft>
                <a:spcPts val="600"/>
              </a:spcAft>
              <a:buClr>
                <a:schemeClr val="accent1"/>
              </a:buClr>
              <a:buFont typeface="Wingdings 2" charset="2"/>
              <a:buNone/>
              <a:defRPr sz="18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2pPr>
            <a:lvl3pPr marL="914400" indent="0" algn="l" defTabSz="457200" rtl="0" eaLnBrk="1" latinLnBrk="0" hangingPunct="1">
              <a:spcBef>
                <a:spcPct val="20000"/>
              </a:spcBef>
              <a:spcAft>
                <a:spcPts val="600"/>
              </a:spcAft>
              <a:buClr>
                <a:schemeClr val="accent1"/>
              </a:buClr>
              <a:buFont typeface="Wingdings 2" charset="2"/>
              <a:buNone/>
              <a:defRPr sz="16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3pPr>
            <a:lvl4pPr marL="13716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4pPr>
            <a:lvl5pPr marL="18288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5pPr>
            <a:lvl6pPr marL="22860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6pPr>
            <a:lvl7pPr marL="27432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7pPr>
            <a:lvl8pPr marL="32004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8pPr>
            <a:lvl9pPr marL="36576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9pPr>
          </a:lstStyle>
          <a:p>
            <a:pPr algn="l"/>
            <a:r>
              <a:rPr lang="en-IN" sz="2800" u="sng" dirty="0">
                <a:effectLst/>
                <a:latin typeface="Adobe Garamond Pro" panose="02020502060506020403" pitchFamily="18" charset="0"/>
              </a:rPr>
              <a:t>Policy Response &amp; Fallback Handling</a:t>
            </a:r>
          </a:p>
          <a:p>
            <a:pPr algn="l"/>
            <a:r>
              <a:rPr lang="en-US" sz="2400" dirty="0">
                <a:effectLst/>
                <a:latin typeface="Adobe Garamond Pro" panose="02020502060506020403" pitchFamily="18" charset="0"/>
              </a:rPr>
              <a:t>The assistant provides a grounded response from the approved internal knowledge base. If additional assistance is required, fallback options such as support request creation or escalation are offered.</a:t>
            </a:r>
            <a:endParaRPr lang="en-IN" sz="2400" dirty="0">
              <a:effectLst/>
              <a:latin typeface="Adobe Garamond Pro" panose="02020502060506020403" pitchFamily="18" charset="0"/>
            </a:endParaRPr>
          </a:p>
        </p:txBody>
      </p:sp>
      <p:pic>
        <p:nvPicPr>
          <p:cNvPr id="18" name="Picture 17">
            <a:extLst>
              <a:ext uri="{FF2B5EF4-FFF2-40B4-BE49-F238E27FC236}">
                <a16:creationId xmlns:a16="http://schemas.microsoft.com/office/drawing/2014/main" id="{6C378F5D-0857-F283-E099-F2C8D86D0123}"/>
              </a:ext>
            </a:extLst>
          </p:cNvPr>
          <p:cNvPicPr>
            <a:picLocks noChangeAspect="1"/>
          </p:cNvPicPr>
          <p:nvPr/>
        </p:nvPicPr>
        <p:blipFill>
          <a:blip r:embed="rId2"/>
          <a:srcRect l="3179" r="3676"/>
          <a:stretch>
            <a:fillRect/>
          </a:stretch>
        </p:blipFill>
        <p:spPr>
          <a:xfrm>
            <a:off x="171254" y="254000"/>
            <a:ext cx="6153652" cy="4445000"/>
          </a:xfrm>
          <a:prstGeom prst="rect">
            <a:avLst/>
          </a:prstGeom>
        </p:spPr>
      </p:pic>
      <p:pic>
        <p:nvPicPr>
          <p:cNvPr id="20" name="Picture 19">
            <a:extLst>
              <a:ext uri="{FF2B5EF4-FFF2-40B4-BE49-F238E27FC236}">
                <a16:creationId xmlns:a16="http://schemas.microsoft.com/office/drawing/2014/main" id="{23ED7F79-F0D3-76B5-B2F6-3F556F826793}"/>
              </a:ext>
            </a:extLst>
          </p:cNvPr>
          <p:cNvPicPr>
            <a:picLocks noChangeAspect="1"/>
          </p:cNvPicPr>
          <p:nvPr/>
        </p:nvPicPr>
        <p:blipFill>
          <a:blip r:embed="rId3"/>
          <a:stretch>
            <a:fillRect/>
          </a:stretch>
        </p:blipFill>
        <p:spPr>
          <a:xfrm>
            <a:off x="6459875" y="757621"/>
            <a:ext cx="5620415" cy="3103180"/>
          </a:xfrm>
          <a:prstGeom prst="rect">
            <a:avLst/>
          </a:prstGeom>
        </p:spPr>
      </p:pic>
    </p:spTree>
    <p:extLst>
      <p:ext uri="{BB962C8B-B14F-4D97-AF65-F5344CB8AC3E}">
        <p14:creationId xmlns:p14="http://schemas.microsoft.com/office/powerpoint/2010/main" val="37404192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6102D-2878-BC27-4115-AC54668B699D}"/>
            </a:ext>
          </a:extLst>
        </p:cNvPr>
        <p:cNvGrpSpPr/>
        <p:nvPr/>
      </p:nvGrpSpPr>
      <p:grpSpPr>
        <a:xfrm>
          <a:off x="0" y="0"/>
          <a:ext cx="0" cy="0"/>
          <a:chOff x="0" y="0"/>
          <a:chExt cx="0" cy="0"/>
        </a:xfrm>
      </p:grpSpPr>
      <p:sp>
        <p:nvSpPr>
          <p:cNvPr id="4" name="Text Placeholder 2">
            <a:extLst>
              <a:ext uri="{FF2B5EF4-FFF2-40B4-BE49-F238E27FC236}">
                <a16:creationId xmlns:a16="http://schemas.microsoft.com/office/drawing/2014/main" id="{48556C4E-195E-D2E5-2251-C7DFDEDEEF1E}"/>
              </a:ext>
            </a:extLst>
          </p:cNvPr>
          <p:cNvSpPr txBox="1">
            <a:spLocks/>
          </p:cNvSpPr>
          <p:nvPr/>
        </p:nvSpPr>
        <p:spPr>
          <a:xfrm>
            <a:off x="171254" y="5172634"/>
            <a:ext cx="11715946" cy="1147879"/>
          </a:xfrm>
          <a:prstGeom prst="rect">
            <a:avLst/>
          </a:prstGeom>
          <a:effectLst/>
        </p:spPr>
        <p:txBody>
          <a:bodyPr vert="horz" lIns="91440" tIns="45720" rIns="91440" bIns="45720" rtlCol="0" anchor="t">
            <a:noAutofit/>
          </a:bodyPr>
          <a:lstStyle>
            <a:lvl1pPr marL="0" indent="0" algn="r" defTabSz="457200" rtl="0" eaLnBrk="1" latinLnBrk="0" hangingPunct="1">
              <a:spcBef>
                <a:spcPct val="20000"/>
              </a:spcBef>
              <a:spcAft>
                <a:spcPts val="600"/>
              </a:spcAft>
              <a:buClr>
                <a:schemeClr val="accent1"/>
              </a:buClr>
              <a:buFont typeface="Wingdings 2" charset="2"/>
              <a:buNone/>
              <a:defRPr sz="1800" kern="1200">
                <a:solidFill>
                  <a:schemeClr val="tx1"/>
                </a:solidFill>
                <a:effectLst>
                  <a:outerShdw blurRad="50800" dir="14400000" algn="ctr" rotWithShape="0">
                    <a:schemeClr val="bg1">
                      <a:alpha val="40000"/>
                    </a:schemeClr>
                  </a:outerShdw>
                </a:effectLst>
                <a:latin typeface="+mn-lt"/>
                <a:ea typeface="+mn-ea"/>
                <a:cs typeface="+mn-cs"/>
              </a:defRPr>
            </a:lvl1pPr>
            <a:lvl2pPr marL="457200" indent="0" algn="l" defTabSz="457200" rtl="0" eaLnBrk="1" latinLnBrk="0" hangingPunct="1">
              <a:spcBef>
                <a:spcPct val="20000"/>
              </a:spcBef>
              <a:spcAft>
                <a:spcPts val="600"/>
              </a:spcAft>
              <a:buClr>
                <a:schemeClr val="accent1"/>
              </a:buClr>
              <a:buFont typeface="Wingdings 2" charset="2"/>
              <a:buNone/>
              <a:defRPr sz="18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2pPr>
            <a:lvl3pPr marL="914400" indent="0" algn="l" defTabSz="457200" rtl="0" eaLnBrk="1" latinLnBrk="0" hangingPunct="1">
              <a:spcBef>
                <a:spcPct val="20000"/>
              </a:spcBef>
              <a:spcAft>
                <a:spcPts val="600"/>
              </a:spcAft>
              <a:buClr>
                <a:schemeClr val="accent1"/>
              </a:buClr>
              <a:buFont typeface="Wingdings 2" charset="2"/>
              <a:buNone/>
              <a:defRPr sz="16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3pPr>
            <a:lvl4pPr marL="13716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4pPr>
            <a:lvl5pPr marL="18288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5pPr>
            <a:lvl6pPr marL="22860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6pPr>
            <a:lvl7pPr marL="27432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7pPr>
            <a:lvl8pPr marL="32004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8pPr>
            <a:lvl9pPr marL="36576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9pPr>
          </a:lstStyle>
          <a:p>
            <a:pPr algn="l"/>
            <a:r>
              <a:rPr lang="en-IN" sz="2800" u="sng" dirty="0">
                <a:effectLst/>
                <a:latin typeface="Adobe Garamond Pro" panose="02020502060506020403" pitchFamily="18" charset="0"/>
              </a:rPr>
              <a:t>Human Escalation &amp; Callback Workflow</a:t>
            </a:r>
          </a:p>
          <a:p>
            <a:pPr algn="l"/>
            <a:r>
              <a:rPr lang="en-US" sz="2400" dirty="0">
                <a:effectLst/>
                <a:latin typeface="Adobe Garamond Pro" panose="02020502060506020403" pitchFamily="18" charset="0"/>
              </a:rPr>
              <a:t>Urgent issues can be escalated to a human support agent by capturing callback priority and contact details through a guided conversational workflow.</a:t>
            </a:r>
            <a:endParaRPr lang="en-IN" sz="2400" dirty="0">
              <a:effectLst/>
              <a:latin typeface="Adobe Garamond Pro" panose="02020502060506020403" pitchFamily="18" charset="0"/>
            </a:endParaRPr>
          </a:p>
        </p:txBody>
      </p:sp>
      <p:pic>
        <p:nvPicPr>
          <p:cNvPr id="22" name="Picture 21">
            <a:extLst>
              <a:ext uri="{FF2B5EF4-FFF2-40B4-BE49-F238E27FC236}">
                <a16:creationId xmlns:a16="http://schemas.microsoft.com/office/drawing/2014/main" id="{4190B028-2E55-EFA2-090E-56DA9033306B}"/>
              </a:ext>
            </a:extLst>
          </p:cNvPr>
          <p:cNvPicPr>
            <a:picLocks noChangeAspect="1"/>
          </p:cNvPicPr>
          <p:nvPr/>
        </p:nvPicPr>
        <p:blipFill>
          <a:blip r:embed="rId2"/>
          <a:stretch>
            <a:fillRect/>
          </a:stretch>
        </p:blipFill>
        <p:spPr>
          <a:xfrm>
            <a:off x="169330" y="81986"/>
            <a:ext cx="5037669" cy="2394136"/>
          </a:xfrm>
          <a:prstGeom prst="rect">
            <a:avLst/>
          </a:prstGeom>
        </p:spPr>
      </p:pic>
      <p:pic>
        <p:nvPicPr>
          <p:cNvPr id="24" name="Picture 23">
            <a:extLst>
              <a:ext uri="{FF2B5EF4-FFF2-40B4-BE49-F238E27FC236}">
                <a16:creationId xmlns:a16="http://schemas.microsoft.com/office/drawing/2014/main" id="{59A20554-D807-E292-4410-326B668D1194}"/>
              </a:ext>
            </a:extLst>
          </p:cNvPr>
          <p:cNvPicPr>
            <a:picLocks noChangeAspect="1"/>
          </p:cNvPicPr>
          <p:nvPr/>
        </p:nvPicPr>
        <p:blipFill>
          <a:blip r:embed="rId3"/>
          <a:stretch>
            <a:fillRect/>
          </a:stretch>
        </p:blipFill>
        <p:spPr>
          <a:xfrm>
            <a:off x="170087" y="2576430"/>
            <a:ext cx="5036911" cy="2297306"/>
          </a:xfrm>
          <a:prstGeom prst="rect">
            <a:avLst/>
          </a:prstGeom>
        </p:spPr>
      </p:pic>
      <p:pic>
        <p:nvPicPr>
          <p:cNvPr id="26" name="Picture 25">
            <a:extLst>
              <a:ext uri="{FF2B5EF4-FFF2-40B4-BE49-F238E27FC236}">
                <a16:creationId xmlns:a16="http://schemas.microsoft.com/office/drawing/2014/main" id="{C02B2893-1380-0E11-F21F-7BA7BB6A1B7F}"/>
              </a:ext>
            </a:extLst>
          </p:cNvPr>
          <p:cNvPicPr>
            <a:picLocks noChangeAspect="1"/>
          </p:cNvPicPr>
          <p:nvPr/>
        </p:nvPicPr>
        <p:blipFill>
          <a:blip r:embed="rId4"/>
          <a:stretch>
            <a:fillRect/>
          </a:stretch>
        </p:blipFill>
        <p:spPr>
          <a:xfrm>
            <a:off x="5332603" y="107135"/>
            <a:ext cx="6714710" cy="4766601"/>
          </a:xfrm>
          <a:prstGeom prst="rect">
            <a:avLst/>
          </a:prstGeom>
        </p:spPr>
      </p:pic>
    </p:spTree>
    <p:extLst>
      <p:ext uri="{BB962C8B-B14F-4D97-AF65-F5344CB8AC3E}">
        <p14:creationId xmlns:p14="http://schemas.microsoft.com/office/powerpoint/2010/main" val="16988007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E200E-7842-7010-485D-8ADE68CCB18D}"/>
            </a:ext>
          </a:extLst>
        </p:cNvPr>
        <p:cNvGrpSpPr/>
        <p:nvPr/>
      </p:nvGrpSpPr>
      <p:grpSpPr>
        <a:xfrm>
          <a:off x="0" y="0"/>
          <a:ext cx="0" cy="0"/>
          <a:chOff x="0" y="0"/>
          <a:chExt cx="0" cy="0"/>
        </a:xfrm>
      </p:grpSpPr>
      <p:sp>
        <p:nvSpPr>
          <p:cNvPr id="4" name="Text Placeholder 2">
            <a:extLst>
              <a:ext uri="{FF2B5EF4-FFF2-40B4-BE49-F238E27FC236}">
                <a16:creationId xmlns:a16="http://schemas.microsoft.com/office/drawing/2014/main" id="{65ABE0C7-94F2-DD03-B908-D5072FF6FFB1}"/>
              </a:ext>
            </a:extLst>
          </p:cNvPr>
          <p:cNvSpPr txBox="1">
            <a:spLocks/>
          </p:cNvSpPr>
          <p:nvPr/>
        </p:nvSpPr>
        <p:spPr>
          <a:xfrm>
            <a:off x="171254" y="5172634"/>
            <a:ext cx="11715946" cy="1147879"/>
          </a:xfrm>
          <a:prstGeom prst="rect">
            <a:avLst/>
          </a:prstGeom>
          <a:effectLst/>
        </p:spPr>
        <p:txBody>
          <a:bodyPr vert="horz" lIns="91440" tIns="45720" rIns="91440" bIns="45720" rtlCol="0" anchor="t">
            <a:noAutofit/>
          </a:bodyPr>
          <a:lstStyle>
            <a:lvl1pPr marL="0" indent="0" algn="r" defTabSz="457200" rtl="0" eaLnBrk="1" latinLnBrk="0" hangingPunct="1">
              <a:spcBef>
                <a:spcPct val="20000"/>
              </a:spcBef>
              <a:spcAft>
                <a:spcPts val="600"/>
              </a:spcAft>
              <a:buClr>
                <a:schemeClr val="accent1"/>
              </a:buClr>
              <a:buFont typeface="Wingdings 2" charset="2"/>
              <a:buNone/>
              <a:defRPr sz="1800" kern="1200">
                <a:solidFill>
                  <a:schemeClr val="tx1"/>
                </a:solidFill>
                <a:effectLst>
                  <a:outerShdw blurRad="50800" dir="14400000" algn="ctr" rotWithShape="0">
                    <a:schemeClr val="bg1">
                      <a:alpha val="40000"/>
                    </a:schemeClr>
                  </a:outerShdw>
                </a:effectLst>
                <a:latin typeface="+mn-lt"/>
                <a:ea typeface="+mn-ea"/>
                <a:cs typeface="+mn-cs"/>
              </a:defRPr>
            </a:lvl1pPr>
            <a:lvl2pPr marL="457200" indent="0" algn="l" defTabSz="457200" rtl="0" eaLnBrk="1" latinLnBrk="0" hangingPunct="1">
              <a:spcBef>
                <a:spcPct val="20000"/>
              </a:spcBef>
              <a:spcAft>
                <a:spcPts val="600"/>
              </a:spcAft>
              <a:buClr>
                <a:schemeClr val="accent1"/>
              </a:buClr>
              <a:buFont typeface="Wingdings 2" charset="2"/>
              <a:buNone/>
              <a:defRPr sz="18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2pPr>
            <a:lvl3pPr marL="914400" indent="0" algn="l" defTabSz="457200" rtl="0" eaLnBrk="1" latinLnBrk="0" hangingPunct="1">
              <a:spcBef>
                <a:spcPct val="20000"/>
              </a:spcBef>
              <a:spcAft>
                <a:spcPts val="600"/>
              </a:spcAft>
              <a:buClr>
                <a:schemeClr val="accent1"/>
              </a:buClr>
              <a:buFont typeface="Wingdings 2" charset="2"/>
              <a:buNone/>
              <a:defRPr sz="16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3pPr>
            <a:lvl4pPr marL="13716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4pPr>
            <a:lvl5pPr marL="18288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5pPr>
            <a:lvl6pPr marL="22860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6pPr>
            <a:lvl7pPr marL="27432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7pPr>
            <a:lvl8pPr marL="32004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8pPr>
            <a:lvl9pPr marL="36576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9pPr>
          </a:lstStyle>
          <a:p>
            <a:pPr algn="l"/>
            <a:r>
              <a:rPr lang="en-IN" sz="2800" u="sng" dirty="0">
                <a:effectLst/>
                <a:latin typeface="Adobe Garamond Pro" panose="02020502060506020403" pitchFamily="18" charset="0"/>
              </a:rPr>
              <a:t>Feedback &amp; Conversation Closure</a:t>
            </a:r>
          </a:p>
          <a:p>
            <a:pPr algn="l"/>
            <a:r>
              <a:rPr lang="en-US" sz="2400" dirty="0">
                <a:effectLst/>
                <a:latin typeface="Adobe Garamond Pro" panose="02020502060506020403" pitchFamily="18" charset="0"/>
              </a:rPr>
              <a:t>The assistant supports conversation closure, user feedback collection, and satisfaction rating to assist workflow evaluation and future refinement.</a:t>
            </a:r>
            <a:endParaRPr lang="en-IN" sz="2400" dirty="0">
              <a:effectLst/>
              <a:latin typeface="Adobe Garamond Pro" panose="02020502060506020403" pitchFamily="18" charset="0"/>
            </a:endParaRPr>
          </a:p>
        </p:txBody>
      </p:sp>
      <p:pic>
        <p:nvPicPr>
          <p:cNvPr id="28" name="Picture 27">
            <a:extLst>
              <a:ext uri="{FF2B5EF4-FFF2-40B4-BE49-F238E27FC236}">
                <a16:creationId xmlns:a16="http://schemas.microsoft.com/office/drawing/2014/main" id="{26BFB858-286C-C105-D67D-930CF84E2E34}"/>
              </a:ext>
            </a:extLst>
          </p:cNvPr>
          <p:cNvPicPr>
            <a:picLocks noChangeAspect="1"/>
          </p:cNvPicPr>
          <p:nvPr/>
        </p:nvPicPr>
        <p:blipFill>
          <a:blip r:embed="rId2"/>
          <a:stretch>
            <a:fillRect/>
          </a:stretch>
        </p:blipFill>
        <p:spPr>
          <a:xfrm>
            <a:off x="128919" y="537487"/>
            <a:ext cx="6212613" cy="3560380"/>
          </a:xfrm>
          <a:prstGeom prst="rect">
            <a:avLst/>
          </a:prstGeom>
        </p:spPr>
      </p:pic>
      <p:pic>
        <p:nvPicPr>
          <p:cNvPr id="30" name="Picture 29">
            <a:extLst>
              <a:ext uri="{FF2B5EF4-FFF2-40B4-BE49-F238E27FC236}">
                <a16:creationId xmlns:a16="http://schemas.microsoft.com/office/drawing/2014/main" id="{27FBA9EB-D971-A6FC-0FA3-671096DF2AE1}"/>
              </a:ext>
            </a:extLst>
          </p:cNvPr>
          <p:cNvPicPr>
            <a:picLocks noChangeAspect="1"/>
          </p:cNvPicPr>
          <p:nvPr/>
        </p:nvPicPr>
        <p:blipFill>
          <a:blip r:embed="rId3"/>
          <a:stretch>
            <a:fillRect/>
          </a:stretch>
        </p:blipFill>
        <p:spPr>
          <a:xfrm>
            <a:off x="6436586" y="537487"/>
            <a:ext cx="5652860" cy="3560380"/>
          </a:xfrm>
          <a:prstGeom prst="rect">
            <a:avLst/>
          </a:prstGeom>
        </p:spPr>
      </p:pic>
    </p:spTree>
    <p:extLst>
      <p:ext uri="{BB962C8B-B14F-4D97-AF65-F5344CB8AC3E}">
        <p14:creationId xmlns:p14="http://schemas.microsoft.com/office/powerpoint/2010/main" val="25657065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EBAA2-1F72-4F6B-5362-BD1F465F8599}"/>
            </a:ext>
          </a:extLst>
        </p:cNvPr>
        <p:cNvGrpSpPr/>
        <p:nvPr/>
      </p:nvGrpSpPr>
      <p:grpSpPr>
        <a:xfrm>
          <a:off x="0" y="0"/>
          <a:ext cx="0" cy="0"/>
          <a:chOff x="0" y="0"/>
          <a:chExt cx="0" cy="0"/>
        </a:xfrm>
      </p:grpSpPr>
      <p:sp>
        <p:nvSpPr>
          <p:cNvPr id="4" name="Text Placeholder 2">
            <a:extLst>
              <a:ext uri="{FF2B5EF4-FFF2-40B4-BE49-F238E27FC236}">
                <a16:creationId xmlns:a16="http://schemas.microsoft.com/office/drawing/2014/main" id="{FCC5A79E-C6FE-2D82-B52F-674DCFE124AA}"/>
              </a:ext>
            </a:extLst>
          </p:cNvPr>
          <p:cNvSpPr txBox="1">
            <a:spLocks/>
          </p:cNvSpPr>
          <p:nvPr/>
        </p:nvSpPr>
        <p:spPr>
          <a:xfrm>
            <a:off x="171254" y="5172634"/>
            <a:ext cx="11715946" cy="1147879"/>
          </a:xfrm>
          <a:prstGeom prst="rect">
            <a:avLst/>
          </a:prstGeom>
          <a:effectLst/>
        </p:spPr>
        <p:txBody>
          <a:bodyPr vert="horz" lIns="91440" tIns="45720" rIns="91440" bIns="45720" rtlCol="0" anchor="t">
            <a:noAutofit/>
          </a:bodyPr>
          <a:lstStyle>
            <a:lvl1pPr marL="0" indent="0" algn="r" defTabSz="457200" rtl="0" eaLnBrk="1" latinLnBrk="0" hangingPunct="1">
              <a:spcBef>
                <a:spcPct val="20000"/>
              </a:spcBef>
              <a:spcAft>
                <a:spcPts val="600"/>
              </a:spcAft>
              <a:buClr>
                <a:schemeClr val="accent1"/>
              </a:buClr>
              <a:buFont typeface="Wingdings 2" charset="2"/>
              <a:buNone/>
              <a:defRPr sz="1800" kern="1200">
                <a:solidFill>
                  <a:schemeClr val="tx1"/>
                </a:solidFill>
                <a:effectLst>
                  <a:outerShdw blurRad="50800" dir="14400000" algn="ctr" rotWithShape="0">
                    <a:schemeClr val="bg1">
                      <a:alpha val="40000"/>
                    </a:schemeClr>
                  </a:outerShdw>
                </a:effectLst>
                <a:latin typeface="+mn-lt"/>
                <a:ea typeface="+mn-ea"/>
                <a:cs typeface="+mn-cs"/>
              </a:defRPr>
            </a:lvl1pPr>
            <a:lvl2pPr marL="457200" indent="0" algn="l" defTabSz="457200" rtl="0" eaLnBrk="1" latinLnBrk="0" hangingPunct="1">
              <a:spcBef>
                <a:spcPct val="20000"/>
              </a:spcBef>
              <a:spcAft>
                <a:spcPts val="600"/>
              </a:spcAft>
              <a:buClr>
                <a:schemeClr val="accent1"/>
              </a:buClr>
              <a:buFont typeface="Wingdings 2" charset="2"/>
              <a:buNone/>
              <a:defRPr sz="18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2pPr>
            <a:lvl3pPr marL="914400" indent="0" algn="l" defTabSz="457200" rtl="0" eaLnBrk="1" latinLnBrk="0" hangingPunct="1">
              <a:spcBef>
                <a:spcPct val="20000"/>
              </a:spcBef>
              <a:spcAft>
                <a:spcPts val="600"/>
              </a:spcAft>
              <a:buClr>
                <a:schemeClr val="accent1"/>
              </a:buClr>
              <a:buFont typeface="Wingdings 2" charset="2"/>
              <a:buNone/>
              <a:defRPr sz="16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3pPr>
            <a:lvl4pPr marL="13716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4pPr>
            <a:lvl5pPr marL="18288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effectLst>
                  <a:outerShdw blurRad="50800" dir="14400000" algn="ctr" rotWithShape="0">
                    <a:schemeClr val="bg1">
                      <a:alpha val="40000"/>
                    </a:schemeClr>
                  </a:outerShdw>
                </a:effectLst>
                <a:latin typeface="+mn-lt"/>
                <a:ea typeface="+mn-ea"/>
                <a:cs typeface="+mn-cs"/>
              </a:defRPr>
            </a:lvl5pPr>
            <a:lvl6pPr marL="22860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6pPr>
            <a:lvl7pPr marL="27432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7pPr>
            <a:lvl8pPr marL="32004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8pPr>
            <a:lvl9pPr marL="3657600" indent="0" algn="l"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9pPr>
          </a:lstStyle>
          <a:p>
            <a:pPr algn="l"/>
            <a:r>
              <a:rPr lang="en-US" sz="2800" u="sng" dirty="0">
                <a:effectLst/>
                <a:latin typeface="Adobe Garamond Pro" panose="02020502060506020403" pitchFamily="18" charset="0"/>
              </a:rPr>
              <a:t>Outlook V2 Email Notification Workflow</a:t>
            </a:r>
          </a:p>
          <a:p>
            <a:pPr algn="l"/>
            <a:r>
              <a:rPr lang="en-US" sz="2400" dirty="0">
                <a:effectLst/>
                <a:latin typeface="Adobe Garamond Pro" panose="02020502060506020403" pitchFamily="18" charset="0"/>
              </a:rPr>
              <a:t>Power Automate and Outlook V2 email workflows are used to notify the support team when an urgent callback escalation request is submitted.</a:t>
            </a:r>
            <a:endParaRPr lang="en-IN" sz="2400" dirty="0">
              <a:effectLst/>
              <a:latin typeface="Adobe Garamond Pro" panose="02020502060506020403" pitchFamily="18" charset="0"/>
            </a:endParaRPr>
          </a:p>
        </p:txBody>
      </p:sp>
      <p:pic>
        <p:nvPicPr>
          <p:cNvPr id="32" name="Picture 31">
            <a:extLst>
              <a:ext uri="{FF2B5EF4-FFF2-40B4-BE49-F238E27FC236}">
                <a16:creationId xmlns:a16="http://schemas.microsoft.com/office/drawing/2014/main" id="{2EC2283E-E208-B925-EE93-F3354F8BD544}"/>
              </a:ext>
            </a:extLst>
          </p:cNvPr>
          <p:cNvPicPr>
            <a:picLocks noChangeAspect="1"/>
          </p:cNvPicPr>
          <p:nvPr/>
        </p:nvPicPr>
        <p:blipFill>
          <a:blip r:embed="rId2"/>
          <a:stretch>
            <a:fillRect/>
          </a:stretch>
        </p:blipFill>
        <p:spPr>
          <a:xfrm>
            <a:off x="1589274" y="122549"/>
            <a:ext cx="8879905" cy="4645830"/>
          </a:xfrm>
          <a:prstGeom prst="rect">
            <a:avLst/>
          </a:prstGeom>
        </p:spPr>
      </p:pic>
    </p:spTree>
    <p:extLst>
      <p:ext uri="{BB962C8B-B14F-4D97-AF65-F5344CB8AC3E}">
        <p14:creationId xmlns:p14="http://schemas.microsoft.com/office/powerpoint/2010/main" val="41884225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DDAE1-98B0-F7C6-CFAD-04F272B056C5}"/>
              </a:ext>
            </a:extLst>
          </p:cNvPr>
          <p:cNvSpPr txBox="1">
            <a:spLocks/>
          </p:cNvSpPr>
          <p:nvPr/>
        </p:nvSpPr>
        <p:spPr>
          <a:xfrm>
            <a:off x="865693" y="386754"/>
            <a:ext cx="11058346" cy="970450"/>
          </a:xfrm>
          <a:prstGeom prst="rect">
            <a:avLst/>
          </a:prstGeom>
        </p:spPr>
        <p:txBody>
          <a:bodyPr/>
          <a:lstStyle>
            <a:lvl1pPr algn="l" defTabSz="457200" rtl="0" eaLnBrk="1" latinLnBrk="0" hangingPunct="1">
              <a:spcBef>
                <a:spcPct val="0"/>
              </a:spcBef>
              <a:buNone/>
              <a:defRPr sz="4000" b="1" kern="1200">
                <a:solidFill>
                  <a:srgbClr val="FEFEFE"/>
                </a:solidFill>
                <a:effectLst>
                  <a:outerShdw blurRad="50800" dir="14400000" algn="ctr" rotWithShape="0">
                    <a:schemeClr val="bg1">
                      <a:alpha val="60000"/>
                    </a:scheme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5400" dirty="0">
                <a:effectLst/>
                <a:latin typeface="Adobe Garamond Pro" panose="02020502060506020403" pitchFamily="18" charset="0"/>
              </a:rPr>
              <a:t>Copilot Studio Evaluation Results</a:t>
            </a:r>
          </a:p>
        </p:txBody>
      </p:sp>
      <p:pic>
        <p:nvPicPr>
          <p:cNvPr id="4" name="Picture 3">
            <a:extLst>
              <a:ext uri="{FF2B5EF4-FFF2-40B4-BE49-F238E27FC236}">
                <a16:creationId xmlns:a16="http://schemas.microsoft.com/office/drawing/2014/main" id="{53BD34EC-7EF5-843C-399D-5E6E7CFCB709}"/>
              </a:ext>
            </a:extLst>
          </p:cNvPr>
          <p:cNvPicPr>
            <a:picLocks noChangeAspect="1"/>
          </p:cNvPicPr>
          <p:nvPr/>
        </p:nvPicPr>
        <p:blipFill>
          <a:blip r:embed="rId2"/>
          <a:stretch>
            <a:fillRect/>
          </a:stretch>
        </p:blipFill>
        <p:spPr>
          <a:xfrm>
            <a:off x="71036" y="1489180"/>
            <a:ext cx="12049927" cy="5081302"/>
          </a:xfrm>
          <a:prstGeom prst="rect">
            <a:avLst/>
          </a:prstGeom>
        </p:spPr>
      </p:pic>
    </p:spTree>
    <p:extLst>
      <p:ext uri="{BB962C8B-B14F-4D97-AF65-F5344CB8AC3E}">
        <p14:creationId xmlns:p14="http://schemas.microsoft.com/office/powerpoint/2010/main" val="23076918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E0758-EB78-945E-A44D-02A71B413C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82DEB2-6DB7-5468-0621-034C8BB16595}"/>
              </a:ext>
            </a:extLst>
          </p:cNvPr>
          <p:cNvSpPr txBox="1">
            <a:spLocks/>
          </p:cNvSpPr>
          <p:nvPr/>
        </p:nvSpPr>
        <p:spPr>
          <a:xfrm>
            <a:off x="226243" y="754144"/>
            <a:ext cx="11766637" cy="1036949"/>
          </a:xfrm>
          <a:prstGeom prst="rect">
            <a:avLst/>
          </a:prstGeom>
        </p:spPr>
        <p:txBody>
          <a:bodyPr/>
          <a:lstStyle>
            <a:lvl1pPr algn="l" defTabSz="457200" rtl="0" eaLnBrk="1" latinLnBrk="0" hangingPunct="1">
              <a:spcBef>
                <a:spcPct val="0"/>
              </a:spcBef>
              <a:buNone/>
              <a:defRPr sz="4000" b="1" kern="1200">
                <a:solidFill>
                  <a:srgbClr val="FEFEFE"/>
                </a:solidFill>
                <a:effectLst>
                  <a:outerShdw blurRad="50800" dir="14400000" algn="ctr" rotWithShape="0">
                    <a:schemeClr val="bg1">
                      <a:alpha val="60000"/>
                    </a:scheme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4800" dirty="0">
                <a:effectLst/>
                <a:latin typeface="Adobe Garamond Pro" panose="02020502060506020403" pitchFamily="18" charset="0"/>
              </a:rPr>
              <a:t>Summary: Copilot Studio Evaluation Results</a:t>
            </a:r>
          </a:p>
        </p:txBody>
      </p:sp>
      <p:sp>
        <p:nvSpPr>
          <p:cNvPr id="7" name="TextBox 6">
            <a:extLst>
              <a:ext uri="{FF2B5EF4-FFF2-40B4-BE49-F238E27FC236}">
                <a16:creationId xmlns:a16="http://schemas.microsoft.com/office/drawing/2014/main" id="{73EAAAA1-0C5F-DED4-7254-2CF8C9CF9271}"/>
              </a:ext>
            </a:extLst>
          </p:cNvPr>
          <p:cNvSpPr txBox="1"/>
          <p:nvPr/>
        </p:nvSpPr>
        <p:spPr>
          <a:xfrm>
            <a:off x="316583" y="2167014"/>
            <a:ext cx="11558834" cy="3539430"/>
          </a:xfrm>
          <a:prstGeom prst="rect">
            <a:avLst/>
          </a:prstGeom>
          <a:noFill/>
        </p:spPr>
        <p:txBody>
          <a:bodyPr wrap="square">
            <a:spAutoFit/>
          </a:bodyPr>
          <a:lstStyle/>
          <a:p>
            <a:pPr marL="457200" indent="-457200">
              <a:buFont typeface="Wingdings" panose="05000000000000000000" pitchFamily="2" charset="2"/>
              <a:buChar char="q"/>
            </a:pPr>
            <a:r>
              <a:rPr lang="en-US" sz="2800" dirty="0"/>
              <a:t>The prototype was evaluated using Copilot Studio conversation-based testing across five workflows: internal policy assistance, support request creation, ticket lookup, incorrect ticket ID validation, and urgent callback escalation via email.</a:t>
            </a:r>
          </a:p>
          <a:p>
            <a:endParaRPr lang="en-US" sz="2800" dirty="0"/>
          </a:p>
          <a:p>
            <a:pPr marL="457200" indent="-457200">
              <a:buFont typeface="Wingdings" panose="05000000000000000000" pitchFamily="2" charset="2"/>
              <a:buChar char="q"/>
            </a:pPr>
            <a:r>
              <a:rPr lang="en-US" sz="2800" dirty="0"/>
              <a:t>All evaluated workflows achieved a 100% general quality score during prototype testing.</a:t>
            </a:r>
            <a:endParaRPr lang="en-IN" sz="2800" dirty="0"/>
          </a:p>
        </p:txBody>
      </p:sp>
    </p:spTree>
    <p:extLst>
      <p:ext uri="{BB962C8B-B14F-4D97-AF65-F5344CB8AC3E}">
        <p14:creationId xmlns:p14="http://schemas.microsoft.com/office/powerpoint/2010/main" val="1158931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_win32_v2">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_win32_v2" id="{774FFE37-89CF-4C62-B7CB-36441A09341B}" vid="{B830AAAD-6172-4FB1-BCB8-2D9519D9192B}"/>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{9EA4B54C-C719-4276-AAD2-23553F4BC825}TF422d6a94-b412-4b4b-8b36-ccdb9da8dac8d8130915_win32-3b4bd71c511d</Template>
  <TotalTime>372</TotalTime>
  <Words>1028</Words>
  <Application>Microsoft Office PowerPoint</Application>
  <PresentationFormat>Widescreen</PresentationFormat>
  <Paragraphs>71</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Adobe Garamond Pro</vt:lpstr>
      <vt:lpstr>Adobe Garamond Pro Bold</vt:lpstr>
      <vt:lpstr>Century Gothic</vt:lpstr>
      <vt:lpstr>Wingdings</vt:lpstr>
      <vt:lpstr>Wingdings 2</vt:lpstr>
      <vt:lpstr>Quotable_win32_v2</vt:lpstr>
      <vt:lpstr>AI-Powered Smart Support Assistant for Internal Organisational Support</vt:lpstr>
      <vt:lpstr>Overview</vt:lpstr>
      <vt:lpstr>Key Features</vt:lpstr>
      <vt:lpstr>Key Features</vt:lpstr>
      <vt:lpstr>PowerPoint Presentation</vt:lpstr>
      <vt:lpstr>Working Demonstrations (screenshots) are in the following slides:</vt:lpstr>
      <vt:lpstr>PowerPoint Presentation</vt:lpstr>
      <vt:lpstr>Demonstration - 1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Demonstration - 2</vt:lpstr>
      <vt:lpstr>PowerPoint Presentation</vt:lpstr>
      <vt:lpstr>PowerPoint Presentation</vt:lpstr>
      <vt:lpstr>PowerPoint Presentation</vt:lpstr>
      <vt:lpstr>Demonstration - 3</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RUCHIKA ARORA</dc:creator>
  <cp:lastModifiedBy>RUCHIKA ARORA</cp:lastModifiedBy>
  <cp:revision>13</cp:revision>
  <dcterms:created xsi:type="dcterms:W3CDTF">2026-05-27T01:12:36Z</dcterms:created>
  <dcterms:modified xsi:type="dcterms:W3CDTF">2026-05-27T07:25:34Z</dcterms:modified>
</cp:coreProperties>
</file>